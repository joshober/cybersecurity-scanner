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4.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6.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7.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8.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9.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1" d="100"/>
          <a:sy n="51" d="100"/>
        </p:scale>
        <p:origin x="117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v>Depth stage reached</c:v>
          </c:tx>
          <c:spPr>
            <a:solidFill>
              <a:schemeClr val="accent1"/>
            </a:solidFill>
            <a:ln>
              <a:noFill/>
            </a:ln>
            <a:effectLst/>
          </c:spPr>
          <c:invertIfNegative val="0"/>
          <c:dPt>
            <c:idx val="0"/>
            <c:invertIfNegative val="0"/>
            <c:bubble3D val="0"/>
            <c:spPr>
              <a:solidFill>
                <a:srgbClr val="16A34A"/>
              </a:solidFill>
              <a:ln>
                <a:solidFill>
                  <a:srgbClr val="16A34A"/>
                </a:solidFill>
              </a:ln>
              <a:effectLst/>
            </c:spPr>
            <c:extLst>
              <c:ext xmlns:c16="http://schemas.microsoft.com/office/drawing/2014/chart" uri="{C3380CC4-5D6E-409C-BE32-E72D297353CC}">
                <c16:uniqueId val="{00000004-A53C-4979-8E14-C2D468271FEE}"/>
              </c:ext>
            </c:extLst>
          </c:dPt>
          <c:dPt>
            <c:idx val="1"/>
            <c:invertIfNegative val="0"/>
            <c:bubble3D val="0"/>
            <c:spPr>
              <a:solidFill>
                <a:srgbClr val="2563EB"/>
              </a:solidFill>
              <a:ln>
                <a:solidFill>
                  <a:srgbClr val="2563EB"/>
                </a:solidFill>
              </a:ln>
              <a:effectLst/>
            </c:spPr>
            <c:extLst>
              <c:ext xmlns:c16="http://schemas.microsoft.com/office/drawing/2014/chart" uri="{C3380CC4-5D6E-409C-BE32-E72D297353CC}">
                <c16:uniqueId val="{00000005-A53C-4979-8E14-C2D468271FEE}"/>
              </c:ext>
            </c:extLst>
          </c:dPt>
          <c:dPt>
            <c:idx val="2"/>
            <c:invertIfNegative val="0"/>
            <c:bubble3D val="0"/>
            <c:spPr>
              <a:solidFill>
                <a:srgbClr val="F59E0B"/>
              </a:solidFill>
              <a:ln>
                <a:solidFill>
                  <a:srgbClr val="F59E0B"/>
                </a:solidFill>
              </a:ln>
              <a:effectLst/>
            </c:spPr>
            <c:extLst>
              <c:ext xmlns:c16="http://schemas.microsoft.com/office/drawing/2014/chart" uri="{C3380CC4-5D6E-409C-BE32-E72D297353CC}">
                <c16:uniqueId val="{00000006-A53C-4979-8E14-C2D468271FEE}"/>
              </c:ext>
            </c:extLst>
          </c:dPt>
          <c:dPt>
            <c:idx val="3"/>
            <c:invertIfNegative val="0"/>
            <c:bubble3D val="0"/>
            <c:spPr>
              <a:solidFill>
                <a:srgbClr val="EF4444"/>
              </a:solidFill>
              <a:ln>
                <a:solidFill>
                  <a:srgbClr val="EF4444"/>
                </a:solidFill>
              </a:ln>
              <a:effectLst/>
            </c:spPr>
            <c:extLst>
              <c:ext xmlns:c16="http://schemas.microsoft.com/office/drawing/2014/chart" uri="{C3380CC4-5D6E-409C-BE32-E72D297353CC}">
                <c16:uniqueId val="{00000007-A53C-4979-8E14-C2D468271FEE}"/>
              </c:ext>
            </c:extLst>
          </c:dPt>
          <c:dPt>
            <c:idx val="4"/>
            <c:invertIfNegative val="0"/>
            <c:bubble3D val="0"/>
            <c:spPr>
              <a:solidFill>
                <a:srgbClr val="8B5CF6"/>
              </a:solidFill>
              <a:ln>
                <a:solidFill>
                  <a:srgbClr val="8B5CF6"/>
                </a:solidFill>
              </a:ln>
              <a:effectLst/>
            </c:spPr>
            <c:extLst>
              <c:ext xmlns:c16="http://schemas.microsoft.com/office/drawing/2014/chart" uri="{C3380CC4-5D6E-409C-BE32-E72D297353CC}">
                <c16:uniqueId val="{00000008-A53C-4979-8E14-C2D468271FEE}"/>
              </c:ext>
            </c:extLst>
          </c:dPt>
          <c:dPt>
            <c:idx val="5"/>
            <c:invertIfNegative val="0"/>
            <c:bubble3D val="0"/>
            <c:spPr>
              <a:solidFill>
                <a:srgbClr val="0EA5E9"/>
              </a:solidFill>
              <a:ln>
                <a:solidFill>
                  <a:srgbClr val="0EA5E9"/>
                </a:solidFill>
              </a:ln>
              <a:effectLst/>
            </c:spPr>
            <c:extLst>
              <c:ext xmlns:c16="http://schemas.microsoft.com/office/drawing/2014/chart" uri="{C3380CC4-5D6E-409C-BE32-E72D297353CC}">
                <c16:uniqueId val="{00000009-A53C-4979-8E14-C2D468271FEE}"/>
              </c:ext>
            </c:extLst>
          </c:dPt>
          <c:dLbls>
            <c:dLbl>
              <c:idx val="0"/>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4-A53C-4979-8E14-C2D468271FEE}"/>
                </c:ext>
              </c:extLst>
            </c:dLbl>
            <c:dLbl>
              <c:idx val="1"/>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5-A53C-4979-8E14-C2D468271FEE}"/>
                </c:ext>
              </c:extLst>
            </c:dLbl>
            <c:dLbl>
              <c:idx val="2"/>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6-A53C-4979-8E14-C2D468271FEE}"/>
                </c:ext>
              </c:extLst>
            </c:dLbl>
            <c:dLbl>
              <c:idx val="3"/>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7-A53C-4979-8E14-C2D468271FEE}"/>
                </c:ext>
              </c:extLst>
            </c:dLbl>
            <c:dLbl>
              <c:idx val="4"/>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8-A53C-4979-8E14-C2D468271FEE}"/>
                </c:ext>
              </c:extLst>
            </c:dLbl>
            <c:dLbl>
              <c:idx val="5"/>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9-A53C-4979-8E14-C2D468271FE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6"/>
              <c:pt idx="0">
                <c:v>VibeScan</c:v>
              </c:pt>
              <c:pt idx="1">
                <c:v>Bearer</c:v>
              </c:pt>
              <c:pt idx="2">
                <c:v>Snyk Code</c:v>
              </c:pt>
              <c:pt idx="3">
                <c:v>CodeQL</c:v>
              </c:pt>
              <c:pt idx="4">
                <c:v>Semgrep</c:v>
              </c:pt>
              <c:pt idx="5">
                <c:v>eslint-plugin-security</c:v>
              </c:pt>
            </c:strLit>
          </c:cat>
          <c:val>
            <c:numLit>
              <c:formatCode>General</c:formatCode>
              <c:ptCount val="6"/>
              <c:pt idx="0">
                <c:v>5</c:v>
              </c:pt>
              <c:pt idx="1">
                <c:v>3</c:v>
              </c:pt>
              <c:pt idx="2">
                <c:v>3</c:v>
              </c:pt>
              <c:pt idx="3">
                <c:v>3</c:v>
              </c:pt>
              <c:pt idx="4">
                <c:v>2</c:v>
              </c:pt>
              <c:pt idx="5">
                <c:v>1</c:v>
              </c:pt>
            </c:numLit>
          </c:val>
          <c:extLst>
            <c:ext xmlns:c16="http://schemas.microsoft.com/office/drawing/2014/chart" uri="{C3380CC4-5D6E-409C-BE32-E72D297353CC}">
              <c16:uniqueId val="{00000003-A53C-4979-8E14-C2D468271FEE}"/>
            </c:ext>
          </c:extLst>
        </c:ser>
        <c:dLbls>
          <c:showLegendKey val="0"/>
          <c:showVal val="0"/>
          <c:showCatName val="0"/>
          <c:showSerName val="0"/>
          <c:showPercent val="0"/>
          <c:showBubbleSize val="0"/>
        </c:dLbls>
        <c:gapWidth val="219"/>
        <c:overlap val="-27"/>
        <c:axId val="1629077776"/>
        <c:axId val="1629085936"/>
      </c:barChart>
      <c:catAx>
        <c:axId val="1629077776"/>
        <c:scaling>
          <c:orientation val="minMax"/>
        </c:scaling>
        <c:delete val="0"/>
        <c:axPos val="r"/>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Analysis depth stage (1-5)</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29085936"/>
        <c:crosses val="autoZero"/>
        <c:auto val="1"/>
        <c:lblAlgn val="ctr"/>
        <c:lblOffset val="100"/>
        <c:noMultiLvlLbl val="0"/>
      </c:catAx>
      <c:valAx>
        <c:axId val="1629085936"/>
        <c:scaling>
          <c:orientation val="maxMin"/>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290777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v>Tools</c:v>
          </c:tx>
          <c:spPr>
            <a:ln w="25400" cap="rnd">
              <a:noFill/>
              <a:round/>
            </a:ln>
            <a:effectLst/>
          </c:spPr>
          <c:marker>
            <c:symbol val="circle"/>
            <c:size val="5"/>
            <c:spPr>
              <a:solidFill>
                <a:schemeClr val="accent1"/>
              </a:solidFill>
              <a:ln w="9525">
                <a:solidFill>
                  <a:schemeClr val="accent1"/>
                </a:solidFill>
              </a:ln>
              <a:effectLst/>
            </c:spPr>
          </c:marker>
          <c:dPt>
            <c:idx val="0"/>
            <c:marker>
              <c:symbol val="circle"/>
              <c:size val="11"/>
              <c:spPr>
                <a:solidFill>
                  <a:srgbClr val="16A34A"/>
                </a:solidFill>
                <a:ln w="9525">
                  <a:solidFill>
                    <a:schemeClr val="accent1"/>
                  </a:solidFill>
                </a:ln>
                <a:effectLst/>
              </c:spPr>
            </c:marker>
            <c:bubble3D val="0"/>
            <c:spPr>
              <a:ln w="25400" cap="rnd">
                <a:noFill/>
                <a:round/>
              </a:ln>
              <a:effectLst/>
            </c:spPr>
            <c:extLst>
              <c:ext xmlns:c16="http://schemas.microsoft.com/office/drawing/2014/chart" uri="{C3380CC4-5D6E-409C-BE32-E72D297353CC}">
                <c16:uniqueId val="{00000003-114B-4774-B8CA-BF7651A5C25E}"/>
              </c:ext>
            </c:extLst>
          </c:dPt>
          <c:dPt>
            <c:idx val="1"/>
            <c:marker>
              <c:symbol val="circle"/>
              <c:size val="8"/>
              <c:spPr>
                <a:solidFill>
                  <a:srgbClr val="2563EB"/>
                </a:solidFill>
                <a:ln w="9525">
                  <a:solidFill>
                    <a:schemeClr val="accent1"/>
                  </a:solidFill>
                </a:ln>
                <a:effectLst/>
              </c:spPr>
            </c:marker>
            <c:bubble3D val="0"/>
            <c:spPr>
              <a:ln w="25400" cap="rnd">
                <a:noFill/>
                <a:round/>
              </a:ln>
              <a:effectLst/>
            </c:spPr>
            <c:extLst>
              <c:ext xmlns:c16="http://schemas.microsoft.com/office/drawing/2014/chart" uri="{C3380CC4-5D6E-409C-BE32-E72D297353CC}">
                <c16:uniqueId val="{00000004-114B-4774-B8CA-BF7651A5C25E}"/>
              </c:ext>
            </c:extLst>
          </c:dPt>
          <c:dPt>
            <c:idx val="2"/>
            <c:marker>
              <c:symbol val="circle"/>
              <c:size val="8"/>
              <c:spPr>
                <a:solidFill>
                  <a:srgbClr val="F59E0B"/>
                </a:solidFill>
                <a:ln w="9525">
                  <a:solidFill>
                    <a:schemeClr val="accent1"/>
                  </a:solidFill>
                </a:ln>
                <a:effectLst/>
              </c:spPr>
            </c:marker>
            <c:bubble3D val="0"/>
            <c:spPr>
              <a:ln w="25400" cap="rnd">
                <a:noFill/>
                <a:round/>
              </a:ln>
              <a:effectLst/>
            </c:spPr>
            <c:extLst>
              <c:ext xmlns:c16="http://schemas.microsoft.com/office/drawing/2014/chart" uri="{C3380CC4-5D6E-409C-BE32-E72D297353CC}">
                <c16:uniqueId val="{00000005-114B-4774-B8CA-BF7651A5C25E}"/>
              </c:ext>
            </c:extLst>
          </c:dPt>
          <c:dPt>
            <c:idx val="3"/>
            <c:marker>
              <c:symbol val="circle"/>
              <c:size val="8"/>
              <c:spPr>
                <a:solidFill>
                  <a:srgbClr val="8B5CF6"/>
                </a:solidFill>
                <a:ln w="9525">
                  <a:solidFill>
                    <a:schemeClr val="accent1"/>
                  </a:solidFill>
                </a:ln>
                <a:effectLst/>
              </c:spPr>
            </c:marker>
            <c:bubble3D val="0"/>
            <c:spPr>
              <a:ln w="25400" cap="rnd">
                <a:noFill/>
                <a:round/>
              </a:ln>
              <a:effectLst/>
            </c:spPr>
            <c:extLst>
              <c:ext xmlns:c16="http://schemas.microsoft.com/office/drawing/2014/chart" uri="{C3380CC4-5D6E-409C-BE32-E72D297353CC}">
                <c16:uniqueId val="{00000006-114B-4774-B8CA-BF7651A5C25E}"/>
              </c:ext>
            </c:extLst>
          </c:dPt>
          <c:dPt>
            <c:idx val="4"/>
            <c:marker>
              <c:symbol val="circle"/>
              <c:size val="8"/>
              <c:spPr>
                <a:solidFill>
                  <a:srgbClr val="EF4444"/>
                </a:solidFill>
                <a:ln w="9525">
                  <a:solidFill>
                    <a:schemeClr val="accent1"/>
                  </a:solidFill>
                </a:ln>
                <a:effectLst/>
              </c:spPr>
            </c:marker>
            <c:bubble3D val="0"/>
            <c:spPr>
              <a:ln w="25400" cap="rnd">
                <a:noFill/>
                <a:round/>
              </a:ln>
              <a:effectLst/>
            </c:spPr>
            <c:extLst>
              <c:ext xmlns:c16="http://schemas.microsoft.com/office/drawing/2014/chart" uri="{C3380CC4-5D6E-409C-BE32-E72D297353CC}">
                <c16:uniqueId val="{00000007-114B-4774-B8CA-BF7651A5C25E}"/>
              </c:ext>
            </c:extLst>
          </c:dPt>
          <c:dPt>
            <c:idx val="5"/>
            <c:marker>
              <c:symbol val="circle"/>
              <c:size val="8"/>
              <c:spPr>
                <a:solidFill>
                  <a:srgbClr val="0EA5E9"/>
                </a:solidFill>
                <a:ln w="9525">
                  <a:solidFill>
                    <a:schemeClr val="accent1"/>
                  </a:solidFill>
                </a:ln>
                <a:effectLst/>
              </c:spPr>
            </c:marker>
            <c:bubble3D val="0"/>
            <c:spPr>
              <a:ln w="25400" cap="rnd">
                <a:noFill/>
                <a:round/>
              </a:ln>
              <a:effectLst/>
            </c:spPr>
            <c:extLst>
              <c:ext xmlns:c16="http://schemas.microsoft.com/office/drawing/2014/chart" uri="{C3380CC4-5D6E-409C-BE32-E72D297353CC}">
                <c16:uniqueId val="{00000008-114B-4774-B8CA-BF7651A5C25E}"/>
              </c:ext>
            </c:extLst>
          </c:dPt>
          <c:dLbls>
            <c:dLbl>
              <c:idx val="0"/>
              <c:tx>
                <c:rich>
                  <a:bodyPr/>
                  <a:lstStyle/>
                  <a:p>
                    <a:r>
                      <a:rPr lang="en-US"/>
                      <a:t>VibeScan</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114B-4774-B8CA-BF7651A5C25E}"/>
                </c:ext>
              </c:extLst>
            </c:dLbl>
            <c:dLbl>
              <c:idx val="1"/>
              <c:tx>
                <c:rich>
                  <a:bodyPr/>
                  <a:lstStyle/>
                  <a:p>
                    <a:r>
                      <a:rPr lang="en-US"/>
                      <a:t>Bearer</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114B-4774-B8CA-BF7651A5C25E}"/>
                </c:ext>
              </c:extLst>
            </c:dLbl>
            <c:dLbl>
              <c:idx val="2"/>
              <c:tx>
                <c:rich>
                  <a:bodyPr/>
                  <a:lstStyle/>
                  <a:p>
                    <a:r>
                      <a:rPr lang="en-US"/>
                      <a:t>Snyk Code</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114B-4774-B8CA-BF7651A5C25E}"/>
                </c:ext>
              </c:extLst>
            </c:dLbl>
            <c:dLbl>
              <c:idx val="3"/>
              <c:tx>
                <c:rich>
                  <a:bodyPr/>
                  <a:lstStyle/>
                  <a:p>
                    <a:r>
                      <a:rPr lang="en-US"/>
                      <a:t>Semgrep</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114B-4774-B8CA-BF7651A5C25E}"/>
                </c:ext>
              </c:extLst>
            </c:dLbl>
            <c:dLbl>
              <c:idx val="4"/>
              <c:tx>
                <c:rich>
                  <a:bodyPr/>
                  <a:lstStyle/>
                  <a:p>
                    <a:r>
                      <a:rPr lang="en-US"/>
                      <a:t>CodeQL</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114B-4774-B8CA-BF7651A5C25E}"/>
                </c:ext>
              </c:extLst>
            </c:dLbl>
            <c:dLbl>
              <c:idx val="5"/>
              <c:tx>
                <c:rich>
                  <a:bodyPr/>
                  <a:lstStyle/>
                  <a:p>
                    <a:r>
                      <a:rPr lang="en-US"/>
                      <a:t>eslint-plugin-security</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114B-4774-B8CA-BF7651A5C25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rgbClr val="EF4444"/>
                </a:solidFill>
                <a:prstDash val="sysDot"/>
              </a:ln>
              <a:effectLst/>
            </c:spPr>
            <c:trendlineType val="linear"/>
            <c:dispRSqr val="0"/>
            <c:dispEq val="0"/>
          </c:trendline>
          <c:xVal>
            <c:numLit>
              <c:formatCode>General</c:formatCode>
              <c:ptCount val="6"/>
              <c:pt idx="0">
                <c:v>25</c:v>
              </c:pt>
              <c:pt idx="1">
                <c:v>31</c:v>
              </c:pt>
              <c:pt idx="2">
                <c:v>36</c:v>
              </c:pt>
              <c:pt idx="3">
                <c:v>11</c:v>
              </c:pt>
              <c:pt idx="4">
                <c:v>46</c:v>
              </c:pt>
              <c:pt idx="5">
                <c:v>493</c:v>
              </c:pt>
            </c:numLit>
          </c:xVal>
          <c:yVal>
            <c:numLit>
              <c:formatCode>General</c:formatCode>
              <c:ptCount val="6"/>
              <c:pt idx="0">
                <c:v>100</c:v>
              </c:pt>
              <c:pt idx="1">
                <c:v>72.727272727272734</c:v>
              </c:pt>
              <c:pt idx="2">
                <c:v>63.636363636363633</c:v>
              </c:pt>
              <c:pt idx="3">
                <c:v>36.363636363636367</c:v>
              </c:pt>
              <c:pt idx="4">
                <c:v>54.545454545454547</c:v>
              </c:pt>
              <c:pt idx="5">
                <c:v>9.0909090909090917</c:v>
              </c:pt>
            </c:numLit>
          </c:yVal>
          <c:smooth val="0"/>
          <c:extLst>
            <c:ext xmlns:c16="http://schemas.microsoft.com/office/drawing/2014/chart" uri="{C3380CC4-5D6E-409C-BE32-E72D297353CC}">
              <c16:uniqueId val="{00000001-114B-4774-B8CA-BF7651A5C25E}"/>
            </c:ext>
          </c:extLst>
        </c:ser>
        <c:dLbls>
          <c:showLegendKey val="0"/>
          <c:showVal val="0"/>
          <c:showCatName val="0"/>
          <c:showSerName val="0"/>
          <c:showPercent val="0"/>
          <c:showBubbleSize val="0"/>
        </c:dLbls>
        <c:axId val="1629104656"/>
        <c:axId val="1629102256"/>
      </c:scatterChart>
      <c:valAx>
        <c:axId val="1629104656"/>
        <c:scaling>
          <c:orientation val="minMax"/>
          <c:max val="500"/>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Raw issues reported on DVNA</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29102256"/>
        <c:crosses val="autoZero"/>
        <c:crossBetween val="midCat"/>
        <c:majorUnit val="100"/>
      </c:valAx>
      <c:valAx>
        <c:axId val="1629102256"/>
        <c:scaling>
          <c:orientation val="minMax"/>
          <c:max val="10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Recall (%)</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29104656"/>
        <c:crosses val="autoZero"/>
        <c:crossBetween val="midCat"/>
        <c:majorUnit val="2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clustered"/>
        <c:varyColors val="0"/>
        <c:ser>
          <c:idx val="0"/>
          <c:order val="0"/>
          <c:tx>
            <c:v>Cases per alert</c:v>
          </c:tx>
          <c:spPr>
            <a:solidFill>
              <a:schemeClr val="accent1"/>
            </a:solidFill>
            <a:ln>
              <a:noFill/>
            </a:ln>
            <a:effectLst/>
          </c:spPr>
          <c:invertIfNegative val="0"/>
          <c:dPt>
            <c:idx val="0"/>
            <c:invertIfNegative val="0"/>
            <c:bubble3D val="0"/>
            <c:spPr>
              <a:solidFill>
                <a:srgbClr val="16A34A"/>
              </a:solidFill>
              <a:ln>
                <a:solidFill>
                  <a:srgbClr val="16A34A"/>
                </a:solidFill>
              </a:ln>
              <a:effectLst/>
            </c:spPr>
            <c:extLst>
              <c:ext xmlns:c16="http://schemas.microsoft.com/office/drawing/2014/chart" uri="{C3380CC4-5D6E-409C-BE32-E72D297353CC}">
                <c16:uniqueId val="{00000004-C776-4958-9A8B-83D0CEB06F5C}"/>
              </c:ext>
            </c:extLst>
          </c:dPt>
          <c:dPt>
            <c:idx val="1"/>
            <c:invertIfNegative val="0"/>
            <c:bubble3D val="0"/>
            <c:spPr>
              <a:solidFill>
                <a:srgbClr val="8B5CF6"/>
              </a:solidFill>
              <a:ln>
                <a:solidFill>
                  <a:srgbClr val="8B5CF6"/>
                </a:solidFill>
              </a:ln>
              <a:effectLst/>
            </c:spPr>
            <c:extLst>
              <c:ext xmlns:c16="http://schemas.microsoft.com/office/drawing/2014/chart" uri="{C3380CC4-5D6E-409C-BE32-E72D297353CC}">
                <c16:uniqueId val="{00000005-C776-4958-9A8B-83D0CEB06F5C}"/>
              </c:ext>
            </c:extLst>
          </c:dPt>
          <c:dPt>
            <c:idx val="2"/>
            <c:invertIfNegative val="0"/>
            <c:bubble3D val="0"/>
            <c:spPr>
              <a:solidFill>
                <a:srgbClr val="2563EB"/>
              </a:solidFill>
              <a:ln>
                <a:solidFill>
                  <a:srgbClr val="2563EB"/>
                </a:solidFill>
              </a:ln>
              <a:effectLst/>
            </c:spPr>
            <c:extLst>
              <c:ext xmlns:c16="http://schemas.microsoft.com/office/drawing/2014/chart" uri="{C3380CC4-5D6E-409C-BE32-E72D297353CC}">
                <c16:uniqueId val="{00000006-C776-4958-9A8B-83D0CEB06F5C}"/>
              </c:ext>
            </c:extLst>
          </c:dPt>
          <c:dPt>
            <c:idx val="3"/>
            <c:invertIfNegative val="0"/>
            <c:bubble3D val="0"/>
            <c:spPr>
              <a:solidFill>
                <a:srgbClr val="F59E0B"/>
              </a:solidFill>
              <a:ln>
                <a:solidFill>
                  <a:srgbClr val="F59E0B"/>
                </a:solidFill>
              </a:ln>
              <a:effectLst/>
            </c:spPr>
            <c:extLst>
              <c:ext xmlns:c16="http://schemas.microsoft.com/office/drawing/2014/chart" uri="{C3380CC4-5D6E-409C-BE32-E72D297353CC}">
                <c16:uniqueId val="{00000007-C776-4958-9A8B-83D0CEB06F5C}"/>
              </c:ext>
            </c:extLst>
          </c:dPt>
          <c:dPt>
            <c:idx val="4"/>
            <c:invertIfNegative val="0"/>
            <c:bubble3D val="0"/>
            <c:spPr>
              <a:solidFill>
                <a:srgbClr val="EF4444"/>
              </a:solidFill>
              <a:ln>
                <a:solidFill>
                  <a:srgbClr val="EF4444"/>
                </a:solidFill>
              </a:ln>
              <a:effectLst/>
            </c:spPr>
            <c:extLst>
              <c:ext xmlns:c16="http://schemas.microsoft.com/office/drawing/2014/chart" uri="{C3380CC4-5D6E-409C-BE32-E72D297353CC}">
                <c16:uniqueId val="{00000008-C776-4958-9A8B-83D0CEB06F5C}"/>
              </c:ext>
            </c:extLst>
          </c:dPt>
          <c:dPt>
            <c:idx val="5"/>
            <c:invertIfNegative val="0"/>
            <c:bubble3D val="0"/>
            <c:spPr>
              <a:solidFill>
                <a:srgbClr val="0EA5E9"/>
              </a:solidFill>
              <a:ln>
                <a:solidFill>
                  <a:srgbClr val="0EA5E9"/>
                </a:solidFill>
              </a:ln>
              <a:effectLst/>
            </c:spPr>
            <c:extLst>
              <c:ext xmlns:c16="http://schemas.microsoft.com/office/drawing/2014/chart" uri="{C3380CC4-5D6E-409C-BE32-E72D297353CC}">
                <c16:uniqueId val="{00000009-C776-4958-9A8B-83D0CEB06F5C}"/>
              </c:ext>
            </c:extLst>
          </c:dPt>
          <c:dLbls>
            <c:dLbl>
              <c:idx val="0"/>
              <c:numFmt formatCode="0.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4-C776-4958-9A8B-83D0CEB06F5C}"/>
                </c:ext>
              </c:extLst>
            </c:dLbl>
            <c:dLbl>
              <c:idx val="1"/>
              <c:numFmt formatCode="0.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5-C776-4958-9A8B-83D0CEB06F5C}"/>
                </c:ext>
              </c:extLst>
            </c:dLbl>
            <c:dLbl>
              <c:idx val="2"/>
              <c:numFmt formatCode="0.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6-C776-4958-9A8B-83D0CEB06F5C}"/>
                </c:ext>
              </c:extLst>
            </c:dLbl>
            <c:dLbl>
              <c:idx val="3"/>
              <c:numFmt formatCode="0.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7-C776-4958-9A8B-83D0CEB06F5C}"/>
                </c:ext>
              </c:extLst>
            </c:dLbl>
            <c:dLbl>
              <c:idx val="4"/>
              <c:numFmt formatCode="0.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8-C776-4958-9A8B-83D0CEB06F5C}"/>
                </c:ext>
              </c:extLst>
            </c:dLbl>
            <c:dLbl>
              <c:idx val="5"/>
              <c:numFmt formatCode="0.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9-C776-4958-9A8B-83D0CEB06F5C}"/>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6"/>
              <c:pt idx="0">
                <c:v>VibeScan</c:v>
              </c:pt>
              <c:pt idx="1">
                <c:v>Semgrep</c:v>
              </c:pt>
              <c:pt idx="2">
                <c:v>Bearer</c:v>
              </c:pt>
              <c:pt idx="3">
                <c:v>Snyk Code</c:v>
              </c:pt>
              <c:pt idx="4">
                <c:v>CodeQL</c:v>
              </c:pt>
              <c:pt idx="5">
                <c:v>eslint-plugin-security</c:v>
              </c:pt>
            </c:strLit>
          </c:cat>
          <c:val>
            <c:numLit>
              <c:formatCode>General</c:formatCode>
              <c:ptCount val="6"/>
              <c:pt idx="0">
                <c:v>0.44</c:v>
              </c:pt>
              <c:pt idx="1">
                <c:v>0.36363636363636365</c:v>
              </c:pt>
              <c:pt idx="2">
                <c:v>0.25806451612903225</c:v>
              </c:pt>
              <c:pt idx="3">
                <c:v>0.19444444444444445</c:v>
              </c:pt>
              <c:pt idx="4">
                <c:v>0.13043478260869565</c:v>
              </c:pt>
              <c:pt idx="5">
                <c:v>2.0283975659229209E-3</c:v>
              </c:pt>
            </c:numLit>
          </c:val>
          <c:extLst>
            <c:ext xmlns:c16="http://schemas.microsoft.com/office/drawing/2014/chart" uri="{C3380CC4-5D6E-409C-BE32-E72D297353CC}">
              <c16:uniqueId val="{00000003-C776-4958-9A8B-83D0CEB06F5C}"/>
            </c:ext>
          </c:extLst>
        </c:ser>
        <c:dLbls>
          <c:showLegendKey val="0"/>
          <c:showVal val="0"/>
          <c:showCatName val="0"/>
          <c:showSerName val="0"/>
          <c:showPercent val="0"/>
          <c:showBubbleSize val="0"/>
        </c:dLbls>
        <c:gapWidth val="219"/>
        <c:overlap val="-27"/>
        <c:axId val="1629125776"/>
        <c:axId val="1629109936"/>
      </c:barChart>
      <c:catAx>
        <c:axId val="1629125776"/>
        <c:scaling>
          <c:orientation val="minMax"/>
        </c:scaling>
        <c:delete val="0"/>
        <c:axPos val="r"/>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Cases / alert</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29109936"/>
        <c:crosses val="autoZero"/>
        <c:auto val="1"/>
        <c:lblAlgn val="ctr"/>
        <c:lblOffset val="100"/>
        <c:noMultiLvlLbl val="0"/>
      </c:catAx>
      <c:valAx>
        <c:axId val="1629109936"/>
        <c:scaling>
          <c:orientation val="maxMin"/>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291257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v>VibeScan</c:v>
          </c:tx>
          <c:spPr>
            <a:solidFill>
              <a:srgbClr val="16A34A"/>
            </a:solidFill>
            <a:ln>
              <a:solidFill>
                <a:srgbClr val="16A34A"/>
              </a:solidFill>
            </a:ln>
            <a:effectLst/>
          </c:spPr>
          <c:invertIfNegative val="0"/>
          <c:cat>
            <c:strLit>
              <c:ptCount val="6"/>
              <c:pt idx="0">
                <c:v>Injection</c:v>
              </c:pt>
              <c:pt idx="1">
                <c:v>Redirect and Navigation</c:v>
              </c:pt>
              <c:pt idx="2">
                <c:v>Integrity</c:v>
              </c:pt>
              <c:pt idx="3">
                <c:v>Secrets and Crypto</c:v>
              </c:pt>
              <c:pt idx="4">
                <c:v>Auth and Access Control</c:v>
              </c:pt>
              <c:pt idx="5">
                <c:v>XSS and Client-Side Output</c:v>
              </c:pt>
            </c:strLit>
          </c:cat>
          <c:val>
            <c:numLit>
              <c:formatCode>General</c:formatCode>
              <c:ptCount val="6"/>
              <c:pt idx="0">
                <c:v>100</c:v>
              </c:pt>
              <c:pt idx="1">
                <c:v>100</c:v>
              </c:pt>
              <c:pt idx="2">
                <c:v>100</c:v>
              </c:pt>
              <c:pt idx="3">
                <c:v>100</c:v>
              </c:pt>
              <c:pt idx="4">
                <c:v>100</c:v>
              </c:pt>
              <c:pt idx="5">
                <c:v>100</c:v>
              </c:pt>
            </c:numLit>
          </c:val>
          <c:extLst>
            <c:ext xmlns:c16="http://schemas.microsoft.com/office/drawing/2014/chart" uri="{C3380CC4-5D6E-409C-BE32-E72D297353CC}">
              <c16:uniqueId val="{00000003-71C1-4EFE-B140-810ECB1FFC0E}"/>
            </c:ext>
          </c:extLst>
        </c:ser>
        <c:ser>
          <c:idx val="1"/>
          <c:order val="1"/>
          <c:tx>
            <c:v>Bearer</c:v>
          </c:tx>
          <c:spPr>
            <a:solidFill>
              <a:srgbClr val="2563EB"/>
            </a:solidFill>
            <a:ln>
              <a:solidFill>
                <a:srgbClr val="2563EB"/>
              </a:solidFill>
            </a:ln>
            <a:effectLst/>
          </c:spPr>
          <c:invertIfNegative val="0"/>
          <c:cat>
            <c:strLit>
              <c:ptCount val="6"/>
              <c:pt idx="0">
                <c:v>Injection</c:v>
              </c:pt>
              <c:pt idx="1">
                <c:v>Redirect and Navigation</c:v>
              </c:pt>
              <c:pt idx="2">
                <c:v>Integrity</c:v>
              </c:pt>
              <c:pt idx="3">
                <c:v>Secrets and Crypto</c:v>
              </c:pt>
              <c:pt idx="4">
                <c:v>Auth and Access Control</c:v>
              </c:pt>
              <c:pt idx="5">
                <c:v>XSS and Client-Side Output</c:v>
              </c:pt>
            </c:strLit>
          </c:cat>
          <c:val>
            <c:numLit>
              <c:formatCode>General</c:formatCode>
              <c:ptCount val="6"/>
              <c:pt idx="0">
                <c:v>100</c:v>
              </c:pt>
              <c:pt idx="1">
                <c:v>100</c:v>
              </c:pt>
              <c:pt idx="2">
                <c:v>0</c:v>
              </c:pt>
              <c:pt idx="3">
                <c:v>100</c:v>
              </c:pt>
              <c:pt idx="4">
                <c:v>0</c:v>
              </c:pt>
              <c:pt idx="5">
                <c:v>0</c:v>
              </c:pt>
            </c:numLit>
          </c:val>
          <c:extLst>
            <c:ext xmlns:c16="http://schemas.microsoft.com/office/drawing/2014/chart" uri="{C3380CC4-5D6E-409C-BE32-E72D297353CC}">
              <c16:uniqueId val="{00000004-71C1-4EFE-B140-810ECB1FFC0E}"/>
            </c:ext>
          </c:extLst>
        </c:ser>
        <c:ser>
          <c:idx val="2"/>
          <c:order val="2"/>
          <c:tx>
            <c:v>Snyk Code</c:v>
          </c:tx>
          <c:spPr>
            <a:solidFill>
              <a:srgbClr val="F59E0B"/>
            </a:solidFill>
            <a:ln>
              <a:solidFill>
                <a:srgbClr val="F59E0B"/>
              </a:solidFill>
            </a:ln>
            <a:effectLst/>
          </c:spPr>
          <c:invertIfNegative val="0"/>
          <c:cat>
            <c:strLit>
              <c:ptCount val="6"/>
              <c:pt idx="0">
                <c:v>Injection</c:v>
              </c:pt>
              <c:pt idx="1">
                <c:v>Redirect and Navigation</c:v>
              </c:pt>
              <c:pt idx="2">
                <c:v>Integrity</c:v>
              </c:pt>
              <c:pt idx="3">
                <c:v>Secrets and Crypto</c:v>
              </c:pt>
              <c:pt idx="4">
                <c:v>Auth and Access Control</c:v>
              </c:pt>
              <c:pt idx="5">
                <c:v>XSS and Client-Side Output</c:v>
              </c:pt>
            </c:strLit>
          </c:cat>
          <c:val>
            <c:numLit>
              <c:formatCode>General</c:formatCode>
              <c:ptCount val="6"/>
              <c:pt idx="0">
                <c:v>40</c:v>
              </c:pt>
              <c:pt idx="1">
                <c:v>100</c:v>
              </c:pt>
              <c:pt idx="2">
                <c:v>100</c:v>
              </c:pt>
              <c:pt idx="3">
                <c:v>100</c:v>
              </c:pt>
              <c:pt idx="4">
                <c:v>0</c:v>
              </c:pt>
              <c:pt idx="5">
                <c:v>100</c:v>
              </c:pt>
            </c:numLit>
          </c:val>
          <c:extLst>
            <c:ext xmlns:c16="http://schemas.microsoft.com/office/drawing/2014/chart" uri="{C3380CC4-5D6E-409C-BE32-E72D297353CC}">
              <c16:uniqueId val="{00000005-71C1-4EFE-B140-810ECB1FFC0E}"/>
            </c:ext>
          </c:extLst>
        </c:ser>
        <c:ser>
          <c:idx val="3"/>
          <c:order val="3"/>
          <c:tx>
            <c:v>Semgrep</c:v>
          </c:tx>
          <c:spPr>
            <a:solidFill>
              <a:srgbClr val="8B5CF6"/>
            </a:solidFill>
            <a:ln>
              <a:solidFill>
                <a:srgbClr val="8B5CF6"/>
              </a:solidFill>
            </a:ln>
            <a:effectLst/>
          </c:spPr>
          <c:invertIfNegative val="0"/>
          <c:cat>
            <c:strLit>
              <c:ptCount val="6"/>
              <c:pt idx="0">
                <c:v>Injection</c:v>
              </c:pt>
              <c:pt idx="1">
                <c:v>Redirect and Navigation</c:v>
              </c:pt>
              <c:pt idx="2">
                <c:v>Integrity</c:v>
              </c:pt>
              <c:pt idx="3">
                <c:v>Secrets and Crypto</c:v>
              </c:pt>
              <c:pt idx="4">
                <c:v>Auth and Access Control</c:v>
              </c:pt>
              <c:pt idx="5">
                <c:v>XSS and Client-Side Output</c:v>
              </c:pt>
            </c:strLit>
          </c:cat>
          <c:val>
            <c:numLit>
              <c:formatCode>General</c:formatCode>
              <c:ptCount val="6"/>
              <c:pt idx="0">
                <c:v>20</c:v>
              </c:pt>
              <c:pt idx="1">
                <c:v>100</c:v>
              </c:pt>
              <c:pt idx="2">
                <c:v>100</c:v>
              </c:pt>
              <c:pt idx="3">
                <c:v>50</c:v>
              </c:pt>
              <c:pt idx="4">
                <c:v>0</c:v>
              </c:pt>
              <c:pt idx="5">
                <c:v>0</c:v>
              </c:pt>
            </c:numLit>
          </c:val>
          <c:extLst>
            <c:ext xmlns:c16="http://schemas.microsoft.com/office/drawing/2014/chart" uri="{C3380CC4-5D6E-409C-BE32-E72D297353CC}">
              <c16:uniqueId val="{00000006-71C1-4EFE-B140-810ECB1FFC0E}"/>
            </c:ext>
          </c:extLst>
        </c:ser>
        <c:ser>
          <c:idx val="4"/>
          <c:order val="4"/>
          <c:tx>
            <c:v>CodeQL</c:v>
          </c:tx>
          <c:spPr>
            <a:solidFill>
              <a:srgbClr val="EF4444"/>
            </a:solidFill>
            <a:ln>
              <a:solidFill>
                <a:srgbClr val="EF4444"/>
              </a:solidFill>
            </a:ln>
            <a:effectLst/>
          </c:spPr>
          <c:invertIfNegative val="0"/>
          <c:cat>
            <c:strLit>
              <c:ptCount val="6"/>
              <c:pt idx="0">
                <c:v>Injection</c:v>
              </c:pt>
              <c:pt idx="1">
                <c:v>Redirect and Navigation</c:v>
              </c:pt>
              <c:pt idx="2">
                <c:v>Integrity</c:v>
              </c:pt>
              <c:pt idx="3">
                <c:v>Secrets and Crypto</c:v>
              </c:pt>
              <c:pt idx="4">
                <c:v>Auth and Access Control</c:v>
              </c:pt>
              <c:pt idx="5">
                <c:v>XSS and Client-Side Output</c:v>
              </c:pt>
            </c:strLit>
          </c:cat>
          <c:val>
            <c:numLit>
              <c:formatCode>General</c:formatCode>
              <c:ptCount val="6"/>
              <c:pt idx="0">
                <c:v>40</c:v>
              </c:pt>
              <c:pt idx="1">
                <c:v>100</c:v>
              </c:pt>
              <c:pt idx="2">
                <c:v>100</c:v>
              </c:pt>
              <c:pt idx="3">
                <c:v>50</c:v>
              </c:pt>
              <c:pt idx="4">
                <c:v>100</c:v>
              </c:pt>
              <c:pt idx="5">
                <c:v>0</c:v>
              </c:pt>
            </c:numLit>
          </c:val>
          <c:extLst>
            <c:ext xmlns:c16="http://schemas.microsoft.com/office/drawing/2014/chart" uri="{C3380CC4-5D6E-409C-BE32-E72D297353CC}">
              <c16:uniqueId val="{00000007-71C1-4EFE-B140-810ECB1FFC0E}"/>
            </c:ext>
          </c:extLst>
        </c:ser>
        <c:ser>
          <c:idx val="5"/>
          <c:order val="5"/>
          <c:tx>
            <c:v>eslint-plugin-security</c:v>
          </c:tx>
          <c:spPr>
            <a:solidFill>
              <a:srgbClr val="0EA5E9"/>
            </a:solidFill>
            <a:ln>
              <a:solidFill>
                <a:srgbClr val="0EA5E9"/>
              </a:solidFill>
            </a:ln>
            <a:effectLst/>
          </c:spPr>
          <c:invertIfNegative val="0"/>
          <c:cat>
            <c:strLit>
              <c:ptCount val="6"/>
              <c:pt idx="0">
                <c:v>Injection</c:v>
              </c:pt>
              <c:pt idx="1">
                <c:v>Redirect and Navigation</c:v>
              </c:pt>
              <c:pt idx="2">
                <c:v>Integrity</c:v>
              </c:pt>
              <c:pt idx="3">
                <c:v>Secrets and Crypto</c:v>
              </c:pt>
              <c:pt idx="4">
                <c:v>Auth and Access Control</c:v>
              </c:pt>
              <c:pt idx="5">
                <c:v>XSS and Client-Side Output</c:v>
              </c:pt>
            </c:strLit>
          </c:cat>
          <c:val>
            <c:numLit>
              <c:formatCode>General</c:formatCode>
              <c:ptCount val="6"/>
              <c:pt idx="0">
                <c:v>20</c:v>
              </c:pt>
              <c:pt idx="1">
                <c:v>0</c:v>
              </c:pt>
              <c:pt idx="2">
                <c:v>0</c:v>
              </c:pt>
              <c:pt idx="3">
                <c:v>0</c:v>
              </c:pt>
              <c:pt idx="4">
                <c:v>0</c:v>
              </c:pt>
              <c:pt idx="5">
                <c:v>0</c:v>
              </c:pt>
            </c:numLit>
          </c:val>
          <c:extLst>
            <c:ext xmlns:c16="http://schemas.microsoft.com/office/drawing/2014/chart" uri="{C3380CC4-5D6E-409C-BE32-E72D297353CC}">
              <c16:uniqueId val="{00000008-71C1-4EFE-B140-810ECB1FFC0E}"/>
            </c:ext>
          </c:extLst>
        </c:ser>
        <c:dLbls>
          <c:showLegendKey val="0"/>
          <c:showVal val="0"/>
          <c:showCatName val="0"/>
          <c:showSerName val="0"/>
          <c:showPercent val="0"/>
          <c:showBubbleSize val="0"/>
        </c:dLbls>
        <c:gapWidth val="219"/>
        <c:overlap val="-27"/>
        <c:axId val="1629132976"/>
        <c:axId val="1629133456"/>
      </c:barChart>
      <c:catAx>
        <c:axId val="16291329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29133456"/>
        <c:crosses val="autoZero"/>
        <c:auto val="1"/>
        <c:lblAlgn val="ctr"/>
        <c:lblOffset val="100"/>
        <c:noMultiLvlLbl val="0"/>
      </c:catAx>
      <c:valAx>
        <c:axId val="1629133456"/>
        <c:scaling>
          <c:orientation val="minMax"/>
          <c:max val="10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Recall (%)</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29132976"/>
        <c:crosses val="autoZero"/>
        <c:crossBetween val="between"/>
        <c:majorUnit val="20"/>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v>VibeScan</c:v>
          </c:tx>
          <c:spPr>
            <a:solidFill>
              <a:schemeClr val="accent1"/>
            </a:solidFill>
            <a:ln>
              <a:noFill/>
            </a:ln>
            <a:effectLst/>
          </c:spPr>
          <c:invertIfNegative val="0"/>
          <c:dPt>
            <c:idx val="0"/>
            <c:invertIfNegative val="0"/>
            <c:bubble3D val="0"/>
            <c:spPr>
              <a:solidFill>
                <a:srgbClr val="16A34A"/>
              </a:solidFill>
              <a:ln>
                <a:solidFill>
                  <a:srgbClr val="16A34A"/>
                </a:solidFill>
              </a:ln>
              <a:effectLst/>
            </c:spPr>
            <c:extLst>
              <c:ext xmlns:c16="http://schemas.microsoft.com/office/drawing/2014/chart" uri="{C3380CC4-5D6E-409C-BE32-E72D297353CC}">
                <c16:uniqueId val="{00000004-5D22-4A75-B927-6FD5E1D43A61}"/>
              </c:ext>
            </c:extLst>
          </c:dPt>
          <c:dPt>
            <c:idx val="1"/>
            <c:invertIfNegative val="0"/>
            <c:bubble3D val="0"/>
            <c:spPr>
              <a:solidFill>
                <a:srgbClr val="16A34A"/>
              </a:solidFill>
              <a:ln>
                <a:solidFill>
                  <a:srgbClr val="16A34A"/>
                </a:solidFill>
              </a:ln>
              <a:effectLst/>
            </c:spPr>
            <c:extLst>
              <c:ext xmlns:c16="http://schemas.microsoft.com/office/drawing/2014/chart" uri="{C3380CC4-5D6E-409C-BE32-E72D297353CC}">
                <c16:uniqueId val="{00000005-5D22-4A75-B927-6FD5E1D43A61}"/>
              </c:ext>
            </c:extLst>
          </c:dPt>
          <c:dPt>
            <c:idx val="2"/>
            <c:invertIfNegative val="0"/>
            <c:bubble3D val="0"/>
            <c:spPr>
              <a:solidFill>
                <a:srgbClr val="16A34A"/>
              </a:solidFill>
              <a:ln>
                <a:solidFill>
                  <a:srgbClr val="16A34A"/>
                </a:solidFill>
              </a:ln>
              <a:effectLst/>
            </c:spPr>
            <c:extLst>
              <c:ext xmlns:c16="http://schemas.microsoft.com/office/drawing/2014/chart" uri="{C3380CC4-5D6E-409C-BE32-E72D297353CC}">
                <c16:uniqueId val="{00000006-5D22-4A75-B927-6FD5E1D43A61}"/>
              </c:ext>
            </c:extLst>
          </c:dPt>
          <c:dPt>
            <c:idx val="3"/>
            <c:invertIfNegative val="0"/>
            <c:bubble3D val="0"/>
            <c:spPr>
              <a:solidFill>
                <a:srgbClr val="16A34A"/>
              </a:solidFill>
              <a:ln>
                <a:solidFill>
                  <a:srgbClr val="16A34A"/>
                </a:solidFill>
              </a:ln>
              <a:effectLst/>
            </c:spPr>
            <c:extLst>
              <c:ext xmlns:c16="http://schemas.microsoft.com/office/drawing/2014/chart" uri="{C3380CC4-5D6E-409C-BE32-E72D297353CC}">
                <c16:uniqueId val="{00000007-5D22-4A75-B927-6FD5E1D43A61}"/>
              </c:ext>
            </c:extLst>
          </c:dPt>
          <c:dPt>
            <c:idx val="4"/>
            <c:invertIfNegative val="0"/>
            <c:bubble3D val="0"/>
            <c:spPr>
              <a:solidFill>
                <a:srgbClr val="16A34A"/>
              </a:solidFill>
              <a:ln>
                <a:solidFill>
                  <a:srgbClr val="16A34A"/>
                </a:solidFill>
              </a:ln>
              <a:effectLst/>
            </c:spPr>
            <c:extLst>
              <c:ext xmlns:c16="http://schemas.microsoft.com/office/drawing/2014/chart" uri="{C3380CC4-5D6E-409C-BE32-E72D297353CC}">
                <c16:uniqueId val="{00000008-5D22-4A75-B927-6FD5E1D43A61}"/>
              </c:ext>
            </c:extLst>
          </c:dPt>
          <c:dPt>
            <c:idx val="5"/>
            <c:invertIfNegative val="0"/>
            <c:bubble3D val="0"/>
            <c:spPr>
              <a:solidFill>
                <a:srgbClr val="16A34A"/>
              </a:solidFill>
              <a:ln>
                <a:solidFill>
                  <a:srgbClr val="16A34A"/>
                </a:solidFill>
              </a:ln>
              <a:effectLst/>
            </c:spPr>
            <c:extLst>
              <c:ext xmlns:c16="http://schemas.microsoft.com/office/drawing/2014/chart" uri="{C3380CC4-5D6E-409C-BE32-E72D297353CC}">
                <c16:uniqueId val="{00000009-5D22-4A75-B927-6FD5E1D43A61}"/>
              </c:ext>
            </c:extLst>
          </c:dPt>
          <c:dPt>
            <c:idx val="6"/>
            <c:invertIfNegative val="0"/>
            <c:bubble3D val="0"/>
            <c:spPr>
              <a:solidFill>
                <a:srgbClr val="16A34A"/>
              </a:solidFill>
              <a:ln>
                <a:solidFill>
                  <a:srgbClr val="16A34A"/>
                </a:solidFill>
              </a:ln>
              <a:effectLst/>
            </c:spPr>
            <c:extLst>
              <c:ext xmlns:c16="http://schemas.microsoft.com/office/drawing/2014/chart" uri="{C3380CC4-5D6E-409C-BE32-E72D297353CC}">
                <c16:uniqueId val="{0000000A-5D22-4A75-B927-6FD5E1D43A61}"/>
              </c:ext>
            </c:extLst>
          </c:dPt>
          <c:dPt>
            <c:idx val="7"/>
            <c:invertIfNegative val="0"/>
            <c:bubble3D val="0"/>
            <c:spPr>
              <a:solidFill>
                <a:srgbClr val="16A34A"/>
              </a:solidFill>
              <a:ln>
                <a:solidFill>
                  <a:srgbClr val="16A34A"/>
                </a:solidFill>
              </a:ln>
              <a:effectLst/>
            </c:spPr>
            <c:extLst>
              <c:ext xmlns:c16="http://schemas.microsoft.com/office/drawing/2014/chart" uri="{C3380CC4-5D6E-409C-BE32-E72D297353CC}">
                <c16:uniqueId val="{0000000B-5D22-4A75-B927-6FD5E1D43A61}"/>
              </c:ext>
            </c:extLst>
          </c:dPt>
          <c:dPt>
            <c:idx val="8"/>
            <c:invertIfNegative val="0"/>
            <c:bubble3D val="0"/>
            <c:spPr>
              <a:solidFill>
                <a:srgbClr val="16A34A"/>
              </a:solidFill>
              <a:ln>
                <a:solidFill>
                  <a:srgbClr val="16A34A"/>
                </a:solidFill>
              </a:ln>
              <a:effectLst/>
            </c:spPr>
            <c:extLst>
              <c:ext xmlns:c16="http://schemas.microsoft.com/office/drawing/2014/chart" uri="{C3380CC4-5D6E-409C-BE32-E72D297353CC}">
                <c16:uniqueId val="{0000000C-5D22-4A75-B927-6FD5E1D43A61}"/>
              </c:ext>
            </c:extLst>
          </c:dPt>
          <c:dPt>
            <c:idx val="9"/>
            <c:invertIfNegative val="0"/>
            <c:bubble3D val="0"/>
            <c:spPr>
              <a:solidFill>
                <a:srgbClr val="16A34A"/>
              </a:solidFill>
              <a:ln>
                <a:solidFill>
                  <a:srgbClr val="16A34A"/>
                </a:solidFill>
              </a:ln>
              <a:effectLst/>
            </c:spPr>
            <c:extLst>
              <c:ext xmlns:c16="http://schemas.microsoft.com/office/drawing/2014/chart" uri="{C3380CC4-5D6E-409C-BE32-E72D297353CC}">
                <c16:uniqueId val="{0000000D-5D22-4A75-B927-6FD5E1D43A61}"/>
              </c:ext>
            </c:extLst>
          </c:dPt>
          <c:dPt>
            <c:idx val="10"/>
            <c:invertIfNegative val="0"/>
            <c:bubble3D val="0"/>
            <c:spPr>
              <a:solidFill>
                <a:srgbClr val="16A34A"/>
              </a:solidFill>
              <a:ln>
                <a:solidFill>
                  <a:srgbClr val="16A34A"/>
                </a:solidFill>
              </a:ln>
              <a:effectLst/>
            </c:spPr>
            <c:extLst>
              <c:ext xmlns:c16="http://schemas.microsoft.com/office/drawing/2014/chart" uri="{C3380CC4-5D6E-409C-BE32-E72D297353CC}">
                <c16:uniqueId val="{0000000E-5D22-4A75-B927-6FD5E1D43A61}"/>
              </c:ext>
            </c:extLst>
          </c:dPt>
          <c:cat>
            <c:strLit>
              <c:ptCount val="11"/>
              <c:pt idx="0">
                <c:v>SQL Injection</c:v>
              </c:pt>
              <c:pt idx="1">
                <c:v>Command Injection</c:v>
              </c:pt>
              <c:pt idx="2">
                <c:v>NoSQL (route)</c:v>
              </c:pt>
              <c:pt idx="3">
                <c:v>NoSQL (auth)</c:v>
              </c:pt>
              <c:pt idx="4">
                <c:v>NoSQL (session)</c:v>
              </c:pt>
              <c:pt idx="5">
                <c:v>Open Redirect</c:v>
              </c:pt>
              <c:pt idx="6">
                <c:v>Unsafe Deser</c:v>
              </c:pt>
              <c:pt idx="7">
                <c:v>Hardcoded Secret</c:v>
              </c:pt>
              <c:pt idx="8">
                <c:v>Weak Hash</c:v>
              </c:pt>
              <c:pt idx="9">
                <c:v>Env Fallback</c:v>
              </c:pt>
              <c:pt idx="10">
                <c:v>DOM XSS</c:v>
              </c:pt>
            </c:strLit>
          </c:cat>
          <c:val>
            <c:numLit>
              <c:formatCode>General</c:formatCode>
              <c:ptCount val="11"/>
              <c:pt idx="0">
                <c:v>1</c:v>
              </c:pt>
              <c:pt idx="1">
                <c:v>1</c:v>
              </c:pt>
              <c:pt idx="2">
                <c:v>1</c:v>
              </c:pt>
              <c:pt idx="3">
                <c:v>1</c:v>
              </c:pt>
              <c:pt idx="4">
                <c:v>1</c:v>
              </c:pt>
              <c:pt idx="5">
                <c:v>1</c:v>
              </c:pt>
              <c:pt idx="6">
                <c:v>1</c:v>
              </c:pt>
              <c:pt idx="7">
                <c:v>1</c:v>
              </c:pt>
              <c:pt idx="8">
                <c:v>1</c:v>
              </c:pt>
              <c:pt idx="9">
                <c:v>1</c:v>
              </c:pt>
              <c:pt idx="10">
                <c:v>1</c:v>
              </c:pt>
            </c:numLit>
          </c:val>
          <c:extLst>
            <c:ext xmlns:c16="http://schemas.microsoft.com/office/drawing/2014/chart" uri="{C3380CC4-5D6E-409C-BE32-E72D297353CC}">
              <c16:uniqueId val="{00000003-5D22-4A75-B927-6FD5E1D43A61}"/>
            </c:ext>
          </c:extLst>
        </c:ser>
        <c:ser>
          <c:idx val="1"/>
          <c:order val="1"/>
          <c:tx>
            <c:v>Bearer</c:v>
          </c:tx>
          <c:spPr>
            <a:solidFill>
              <a:schemeClr val="accent2"/>
            </a:solidFill>
            <a:ln>
              <a:noFill/>
            </a:ln>
            <a:effectLst/>
          </c:spPr>
          <c:invertIfNegative val="0"/>
          <c:dPt>
            <c:idx val="0"/>
            <c:invertIfNegative val="0"/>
            <c:bubble3D val="0"/>
            <c:spPr>
              <a:solidFill>
                <a:srgbClr val="2563EB"/>
              </a:solidFill>
              <a:ln>
                <a:solidFill>
                  <a:srgbClr val="2563EB"/>
                </a:solidFill>
              </a:ln>
              <a:effectLst/>
            </c:spPr>
            <c:extLst>
              <c:ext xmlns:c16="http://schemas.microsoft.com/office/drawing/2014/chart" uri="{C3380CC4-5D6E-409C-BE32-E72D297353CC}">
                <c16:uniqueId val="{00000010-5D22-4A75-B927-6FD5E1D43A61}"/>
              </c:ext>
            </c:extLst>
          </c:dPt>
          <c:dPt>
            <c:idx val="1"/>
            <c:invertIfNegative val="0"/>
            <c:bubble3D val="0"/>
            <c:spPr>
              <a:solidFill>
                <a:srgbClr val="2563EB"/>
              </a:solidFill>
              <a:ln>
                <a:solidFill>
                  <a:srgbClr val="2563EB"/>
                </a:solidFill>
              </a:ln>
              <a:effectLst/>
            </c:spPr>
            <c:extLst>
              <c:ext xmlns:c16="http://schemas.microsoft.com/office/drawing/2014/chart" uri="{C3380CC4-5D6E-409C-BE32-E72D297353CC}">
                <c16:uniqueId val="{00000011-5D22-4A75-B927-6FD5E1D43A61}"/>
              </c:ext>
            </c:extLst>
          </c:dPt>
          <c:dPt>
            <c:idx val="2"/>
            <c:invertIfNegative val="0"/>
            <c:bubble3D val="0"/>
            <c:spPr>
              <a:solidFill>
                <a:srgbClr val="2563EB"/>
              </a:solidFill>
              <a:ln>
                <a:solidFill>
                  <a:srgbClr val="2563EB"/>
                </a:solidFill>
              </a:ln>
              <a:effectLst/>
            </c:spPr>
            <c:extLst>
              <c:ext xmlns:c16="http://schemas.microsoft.com/office/drawing/2014/chart" uri="{C3380CC4-5D6E-409C-BE32-E72D297353CC}">
                <c16:uniqueId val="{00000012-5D22-4A75-B927-6FD5E1D43A61}"/>
              </c:ext>
            </c:extLst>
          </c:dPt>
          <c:dPt>
            <c:idx val="3"/>
            <c:invertIfNegative val="0"/>
            <c:bubble3D val="0"/>
            <c:spPr>
              <a:solidFill>
                <a:srgbClr val="2563EB"/>
              </a:solidFill>
              <a:ln>
                <a:solidFill>
                  <a:srgbClr val="2563EB"/>
                </a:solidFill>
              </a:ln>
              <a:effectLst/>
            </c:spPr>
            <c:extLst>
              <c:ext xmlns:c16="http://schemas.microsoft.com/office/drawing/2014/chart" uri="{C3380CC4-5D6E-409C-BE32-E72D297353CC}">
                <c16:uniqueId val="{00000013-5D22-4A75-B927-6FD5E1D43A61}"/>
              </c:ext>
            </c:extLst>
          </c:dPt>
          <c:dPt>
            <c:idx val="4"/>
            <c:invertIfNegative val="0"/>
            <c:bubble3D val="0"/>
            <c:spPr>
              <a:solidFill>
                <a:srgbClr val="2563EB"/>
              </a:solidFill>
              <a:ln>
                <a:solidFill>
                  <a:srgbClr val="2563EB"/>
                </a:solidFill>
              </a:ln>
              <a:effectLst/>
            </c:spPr>
            <c:extLst>
              <c:ext xmlns:c16="http://schemas.microsoft.com/office/drawing/2014/chart" uri="{C3380CC4-5D6E-409C-BE32-E72D297353CC}">
                <c16:uniqueId val="{00000014-5D22-4A75-B927-6FD5E1D43A61}"/>
              </c:ext>
            </c:extLst>
          </c:dPt>
          <c:dPt>
            <c:idx val="5"/>
            <c:invertIfNegative val="0"/>
            <c:bubble3D val="0"/>
            <c:spPr>
              <a:solidFill>
                <a:srgbClr val="2563EB"/>
              </a:solidFill>
              <a:ln>
                <a:solidFill>
                  <a:srgbClr val="2563EB"/>
                </a:solidFill>
              </a:ln>
              <a:effectLst/>
            </c:spPr>
            <c:extLst>
              <c:ext xmlns:c16="http://schemas.microsoft.com/office/drawing/2014/chart" uri="{C3380CC4-5D6E-409C-BE32-E72D297353CC}">
                <c16:uniqueId val="{00000015-5D22-4A75-B927-6FD5E1D43A61}"/>
              </c:ext>
            </c:extLst>
          </c:dPt>
          <c:dPt>
            <c:idx val="6"/>
            <c:invertIfNegative val="0"/>
            <c:bubble3D val="0"/>
            <c:spPr>
              <a:solidFill>
                <a:srgbClr val="E2E8F0"/>
              </a:solidFill>
              <a:ln>
                <a:solidFill>
                  <a:srgbClr val="2563EB"/>
                </a:solidFill>
              </a:ln>
              <a:effectLst/>
            </c:spPr>
            <c:extLst>
              <c:ext xmlns:c16="http://schemas.microsoft.com/office/drawing/2014/chart" uri="{C3380CC4-5D6E-409C-BE32-E72D297353CC}">
                <c16:uniqueId val="{00000016-5D22-4A75-B927-6FD5E1D43A61}"/>
              </c:ext>
            </c:extLst>
          </c:dPt>
          <c:dPt>
            <c:idx val="7"/>
            <c:invertIfNegative val="0"/>
            <c:bubble3D val="0"/>
            <c:spPr>
              <a:solidFill>
                <a:srgbClr val="2563EB"/>
              </a:solidFill>
              <a:ln>
                <a:solidFill>
                  <a:srgbClr val="2563EB"/>
                </a:solidFill>
              </a:ln>
              <a:effectLst/>
            </c:spPr>
            <c:extLst>
              <c:ext xmlns:c16="http://schemas.microsoft.com/office/drawing/2014/chart" uri="{C3380CC4-5D6E-409C-BE32-E72D297353CC}">
                <c16:uniqueId val="{00000017-5D22-4A75-B927-6FD5E1D43A61}"/>
              </c:ext>
            </c:extLst>
          </c:dPt>
          <c:dPt>
            <c:idx val="8"/>
            <c:invertIfNegative val="0"/>
            <c:bubble3D val="0"/>
            <c:spPr>
              <a:solidFill>
                <a:srgbClr val="2563EB"/>
              </a:solidFill>
              <a:ln>
                <a:solidFill>
                  <a:srgbClr val="2563EB"/>
                </a:solidFill>
              </a:ln>
              <a:effectLst/>
            </c:spPr>
            <c:extLst>
              <c:ext xmlns:c16="http://schemas.microsoft.com/office/drawing/2014/chart" uri="{C3380CC4-5D6E-409C-BE32-E72D297353CC}">
                <c16:uniqueId val="{00000018-5D22-4A75-B927-6FD5E1D43A61}"/>
              </c:ext>
            </c:extLst>
          </c:dPt>
          <c:dPt>
            <c:idx val="9"/>
            <c:invertIfNegative val="0"/>
            <c:bubble3D val="0"/>
            <c:spPr>
              <a:solidFill>
                <a:srgbClr val="E2E8F0"/>
              </a:solidFill>
              <a:ln>
                <a:solidFill>
                  <a:srgbClr val="2563EB"/>
                </a:solidFill>
              </a:ln>
              <a:effectLst/>
            </c:spPr>
            <c:extLst>
              <c:ext xmlns:c16="http://schemas.microsoft.com/office/drawing/2014/chart" uri="{C3380CC4-5D6E-409C-BE32-E72D297353CC}">
                <c16:uniqueId val="{00000019-5D22-4A75-B927-6FD5E1D43A61}"/>
              </c:ext>
            </c:extLst>
          </c:dPt>
          <c:dPt>
            <c:idx val="10"/>
            <c:invertIfNegative val="0"/>
            <c:bubble3D val="0"/>
            <c:spPr>
              <a:solidFill>
                <a:srgbClr val="E2E8F0"/>
              </a:solidFill>
              <a:ln>
                <a:solidFill>
                  <a:srgbClr val="2563EB"/>
                </a:solidFill>
              </a:ln>
              <a:effectLst/>
            </c:spPr>
            <c:extLst>
              <c:ext xmlns:c16="http://schemas.microsoft.com/office/drawing/2014/chart" uri="{C3380CC4-5D6E-409C-BE32-E72D297353CC}">
                <c16:uniqueId val="{0000001A-5D22-4A75-B927-6FD5E1D43A61}"/>
              </c:ext>
            </c:extLst>
          </c:dPt>
          <c:cat>
            <c:strLit>
              <c:ptCount val="11"/>
              <c:pt idx="0">
                <c:v>SQL Injection</c:v>
              </c:pt>
              <c:pt idx="1">
                <c:v>Command Injection</c:v>
              </c:pt>
              <c:pt idx="2">
                <c:v>NoSQL (route)</c:v>
              </c:pt>
              <c:pt idx="3">
                <c:v>NoSQL (auth)</c:v>
              </c:pt>
              <c:pt idx="4">
                <c:v>NoSQL (session)</c:v>
              </c:pt>
              <c:pt idx="5">
                <c:v>Open Redirect</c:v>
              </c:pt>
              <c:pt idx="6">
                <c:v>Unsafe Deser</c:v>
              </c:pt>
              <c:pt idx="7">
                <c:v>Hardcoded Secret</c:v>
              </c:pt>
              <c:pt idx="8">
                <c:v>Weak Hash</c:v>
              </c:pt>
              <c:pt idx="9">
                <c:v>Env Fallback</c:v>
              </c:pt>
              <c:pt idx="10">
                <c:v>DOM XSS</c:v>
              </c:pt>
            </c:strLit>
          </c:cat>
          <c:val>
            <c:numLit>
              <c:formatCode>General</c:formatCode>
              <c:ptCount val="11"/>
              <c:pt idx="0">
                <c:v>1</c:v>
              </c:pt>
              <c:pt idx="1">
                <c:v>1</c:v>
              </c:pt>
              <c:pt idx="2">
                <c:v>1</c:v>
              </c:pt>
              <c:pt idx="3">
                <c:v>1</c:v>
              </c:pt>
              <c:pt idx="4">
                <c:v>1</c:v>
              </c:pt>
              <c:pt idx="5">
                <c:v>1</c:v>
              </c:pt>
              <c:pt idx="6">
                <c:v>1</c:v>
              </c:pt>
              <c:pt idx="7">
                <c:v>1</c:v>
              </c:pt>
              <c:pt idx="8">
                <c:v>1</c:v>
              </c:pt>
              <c:pt idx="9">
                <c:v>1</c:v>
              </c:pt>
              <c:pt idx="10">
                <c:v>1</c:v>
              </c:pt>
            </c:numLit>
          </c:val>
          <c:extLst>
            <c:ext xmlns:c16="http://schemas.microsoft.com/office/drawing/2014/chart" uri="{C3380CC4-5D6E-409C-BE32-E72D297353CC}">
              <c16:uniqueId val="{0000000F-5D22-4A75-B927-6FD5E1D43A61}"/>
            </c:ext>
          </c:extLst>
        </c:ser>
        <c:ser>
          <c:idx val="2"/>
          <c:order val="2"/>
          <c:tx>
            <c:v>Snyk Code</c:v>
          </c:tx>
          <c:spPr>
            <a:solidFill>
              <a:schemeClr val="accent3"/>
            </a:solidFill>
            <a:ln>
              <a:noFill/>
            </a:ln>
            <a:effectLst/>
          </c:spPr>
          <c:invertIfNegative val="0"/>
          <c:dPt>
            <c:idx val="0"/>
            <c:invertIfNegative val="0"/>
            <c:bubble3D val="0"/>
            <c:spPr>
              <a:solidFill>
                <a:srgbClr val="F59E0B"/>
              </a:solidFill>
              <a:ln>
                <a:solidFill>
                  <a:srgbClr val="F59E0B"/>
                </a:solidFill>
              </a:ln>
              <a:effectLst/>
            </c:spPr>
            <c:extLst>
              <c:ext xmlns:c16="http://schemas.microsoft.com/office/drawing/2014/chart" uri="{C3380CC4-5D6E-409C-BE32-E72D297353CC}">
                <c16:uniqueId val="{0000001C-5D22-4A75-B927-6FD5E1D43A61}"/>
              </c:ext>
            </c:extLst>
          </c:dPt>
          <c:dPt>
            <c:idx val="1"/>
            <c:invertIfNegative val="0"/>
            <c:bubble3D val="0"/>
            <c:spPr>
              <a:solidFill>
                <a:srgbClr val="F59E0B"/>
              </a:solidFill>
              <a:ln>
                <a:solidFill>
                  <a:srgbClr val="F59E0B"/>
                </a:solidFill>
              </a:ln>
              <a:effectLst/>
            </c:spPr>
            <c:extLst>
              <c:ext xmlns:c16="http://schemas.microsoft.com/office/drawing/2014/chart" uri="{C3380CC4-5D6E-409C-BE32-E72D297353CC}">
                <c16:uniqueId val="{0000001D-5D22-4A75-B927-6FD5E1D43A61}"/>
              </c:ext>
            </c:extLst>
          </c:dPt>
          <c:dPt>
            <c:idx val="2"/>
            <c:invertIfNegative val="0"/>
            <c:bubble3D val="0"/>
            <c:spPr>
              <a:solidFill>
                <a:srgbClr val="E2E8F0"/>
              </a:solidFill>
              <a:ln>
                <a:solidFill>
                  <a:srgbClr val="F59E0B"/>
                </a:solidFill>
              </a:ln>
              <a:effectLst/>
            </c:spPr>
            <c:extLst>
              <c:ext xmlns:c16="http://schemas.microsoft.com/office/drawing/2014/chart" uri="{C3380CC4-5D6E-409C-BE32-E72D297353CC}">
                <c16:uniqueId val="{0000001E-5D22-4A75-B927-6FD5E1D43A61}"/>
              </c:ext>
            </c:extLst>
          </c:dPt>
          <c:dPt>
            <c:idx val="3"/>
            <c:invertIfNegative val="0"/>
            <c:bubble3D val="0"/>
            <c:spPr>
              <a:solidFill>
                <a:srgbClr val="E2E8F0"/>
              </a:solidFill>
              <a:ln>
                <a:solidFill>
                  <a:srgbClr val="F59E0B"/>
                </a:solidFill>
              </a:ln>
              <a:effectLst/>
            </c:spPr>
            <c:extLst>
              <c:ext xmlns:c16="http://schemas.microsoft.com/office/drawing/2014/chart" uri="{C3380CC4-5D6E-409C-BE32-E72D297353CC}">
                <c16:uniqueId val="{0000001F-5D22-4A75-B927-6FD5E1D43A61}"/>
              </c:ext>
            </c:extLst>
          </c:dPt>
          <c:dPt>
            <c:idx val="4"/>
            <c:invertIfNegative val="0"/>
            <c:bubble3D val="0"/>
            <c:spPr>
              <a:solidFill>
                <a:srgbClr val="E2E8F0"/>
              </a:solidFill>
              <a:ln>
                <a:solidFill>
                  <a:srgbClr val="F59E0B"/>
                </a:solidFill>
              </a:ln>
              <a:effectLst/>
            </c:spPr>
            <c:extLst>
              <c:ext xmlns:c16="http://schemas.microsoft.com/office/drawing/2014/chart" uri="{C3380CC4-5D6E-409C-BE32-E72D297353CC}">
                <c16:uniqueId val="{00000020-5D22-4A75-B927-6FD5E1D43A61}"/>
              </c:ext>
            </c:extLst>
          </c:dPt>
          <c:dPt>
            <c:idx val="5"/>
            <c:invertIfNegative val="0"/>
            <c:bubble3D val="0"/>
            <c:spPr>
              <a:solidFill>
                <a:srgbClr val="F59E0B"/>
              </a:solidFill>
              <a:ln>
                <a:solidFill>
                  <a:srgbClr val="F59E0B"/>
                </a:solidFill>
              </a:ln>
              <a:effectLst/>
            </c:spPr>
            <c:extLst>
              <c:ext xmlns:c16="http://schemas.microsoft.com/office/drawing/2014/chart" uri="{C3380CC4-5D6E-409C-BE32-E72D297353CC}">
                <c16:uniqueId val="{00000021-5D22-4A75-B927-6FD5E1D43A61}"/>
              </c:ext>
            </c:extLst>
          </c:dPt>
          <c:dPt>
            <c:idx val="6"/>
            <c:invertIfNegative val="0"/>
            <c:bubble3D val="0"/>
            <c:spPr>
              <a:solidFill>
                <a:srgbClr val="F59E0B"/>
              </a:solidFill>
              <a:ln>
                <a:solidFill>
                  <a:srgbClr val="F59E0B"/>
                </a:solidFill>
              </a:ln>
              <a:effectLst/>
            </c:spPr>
            <c:extLst>
              <c:ext xmlns:c16="http://schemas.microsoft.com/office/drawing/2014/chart" uri="{C3380CC4-5D6E-409C-BE32-E72D297353CC}">
                <c16:uniqueId val="{00000022-5D22-4A75-B927-6FD5E1D43A61}"/>
              </c:ext>
            </c:extLst>
          </c:dPt>
          <c:dPt>
            <c:idx val="7"/>
            <c:invertIfNegative val="0"/>
            <c:bubble3D val="0"/>
            <c:spPr>
              <a:solidFill>
                <a:srgbClr val="F59E0B"/>
              </a:solidFill>
              <a:ln>
                <a:solidFill>
                  <a:srgbClr val="F59E0B"/>
                </a:solidFill>
              </a:ln>
              <a:effectLst/>
            </c:spPr>
            <c:extLst>
              <c:ext xmlns:c16="http://schemas.microsoft.com/office/drawing/2014/chart" uri="{C3380CC4-5D6E-409C-BE32-E72D297353CC}">
                <c16:uniqueId val="{00000023-5D22-4A75-B927-6FD5E1D43A61}"/>
              </c:ext>
            </c:extLst>
          </c:dPt>
          <c:dPt>
            <c:idx val="8"/>
            <c:invertIfNegative val="0"/>
            <c:bubble3D val="0"/>
            <c:spPr>
              <a:solidFill>
                <a:srgbClr val="F59E0B"/>
              </a:solidFill>
              <a:ln>
                <a:solidFill>
                  <a:srgbClr val="F59E0B"/>
                </a:solidFill>
              </a:ln>
              <a:effectLst/>
            </c:spPr>
            <c:extLst>
              <c:ext xmlns:c16="http://schemas.microsoft.com/office/drawing/2014/chart" uri="{C3380CC4-5D6E-409C-BE32-E72D297353CC}">
                <c16:uniqueId val="{00000024-5D22-4A75-B927-6FD5E1D43A61}"/>
              </c:ext>
            </c:extLst>
          </c:dPt>
          <c:dPt>
            <c:idx val="9"/>
            <c:invertIfNegative val="0"/>
            <c:bubble3D val="0"/>
            <c:spPr>
              <a:solidFill>
                <a:srgbClr val="E2E8F0"/>
              </a:solidFill>
              <a:ln>
                <a:solidFill>
                  <a:srgbClr val="F59E0B"/>
                </a:solidFill>
              </a:ln>
              <a:effectLst/>
            </c:spPr>
            <c:extLst>
              <c:ext xmlns:c16="http://schemas.microsoft.com/office/drawing/2014/chart" uri="{C3380CC4-5D6E-409C-BE32-E72D297353CC}">
                <c16:uniqueId val="{00000025-5D22-4A75-B927-6FD5E1D43A61}"/>
              </c:ext>
            </c:extLst>
          </c:dPt>
          <c:dPt>
            <c:idx val="10"/>
            <c:invertIfNegative val="0"/>
            <c:bubble3D val="0"/>
            <c:spPr>
              <a:solidFill>
                <a:srgbClr val="F59E0B"/>
              </a:solidFill>
              <a:ln>
                <a:solidFill>
                  <a:srgbClr val="F59E0B"/>
                </a:solidFill>
              </a:ln>
              <a:effectLst/>
            </c:spPr>
            <c:extLst>
              <c:ext xmlns:c16="http://schemas.microsoft.com/office/drawing/2014/chart" uri="{C3380CC4-5D6E-409C-BE32-E72D297353CC}">
                <c16:uniqueId val="{00000026-5D22-4A75-B927-6FD5E1D43A61}"/>
              </c:ext>
            </c:extLst>
          </c:dPt>
          <c:cat>
            <c:strLit>
              <c:ptCount val="11"/>
              <c:pt idx="0">
                <c:v>SQL Injection</c:v>
              </c:pt>
              <c:pt idx="1">
                <c:v>Command Injection</c:v>
              </c:pt>
              <c:pt idx="2">
                <c:v>NoSQL (route)</c:v>
              </c:pt>
              <c:pt idx="3">
                <c:v>NoSQL (auth)</c:v>
              </c:pt>
              <c:pt idx="4">
                <c:v>NoSQL (session)</c:v>
              </c:pt>
              <c:pt idx="5">
                <c:v>Open Redirect</c:v>
              </c:pt>
              <c:pt idx="6">
                <c:v>Unsafe Deser</c:v>
              </c:pt>
              <c:pt idx="7">
                <c:v>Hardcoded Secret</c:v>
              </c:pt>
              <c:pt idx="8">
                <c:v>Weak Hash</c:v>
              </c:pt>
              <c:pt idx="9">
                <c:v>Env Fallback</c:v>
              </c:pt>
              <c:pt idx="10">
                <c:v>DOM XSS</c:v>
              </c:pt>
            </c:strLit>
          </c:cat>
          <c:val>
            <c:numLit>
              <c:formatCode>General</c:formatCode>
              <c:ptCount val="11"/>
              <c:pt idx="0">
                <c:v>1</c:v>
              </c:pt>
              <c:pt idx="1">
                <c:v>1</c:v>
              </c:pt>
              <c:pt idx="2">
                <c:v>1</c:v>
              </c:pt>
              <c:pt idx="3">
                <c:v>1</c:v>
              </c:pt>
              <c:pt idx="4">
                <c:v>1</c:v>
              </c:pt>
              <c:pt idx="5">
                <c:v>1</c:v>
              </c:pt>
              <c:pt idx="6">
                <c:v>1</c:v>
              </c:pt>
              <c:pt idx="7">
                <c:v>1</c:v>
              </c:pt>
              <c:pt idx="8">
                <c:v>1</c:v>
              </c:pt>
              <c:pt idx="9">
                <c:v>1</c:v>
              </c:pt>
              <c:pt idx="10">
                <c:v>1</c:v>
              </c:pt>
            </c:numLit>
          </c:val>
          <c:extLst>
            <c:ext xmlns:c16="http://schemas.microsoft.com/office/drawing/2014/chart" uri="{C3380CC4-5D6E-409C-BE32-E72D297353CC}">
              <c16:uniqueId val="{0000001B-5D22-4A75-B927-6FD5E1D43A61}"/>
            </c:ext>
          </c:extLst>
        </c:ser>
        <c:ser>
          <c:idx val="3"/>
          <c:order val="3"/>
          <c:tx>
            <c:v>Semgrep</c:v>
          </c:tx>
          <c:spPr>
            <a:solidFill>
              <a:schemeClr val="accent4"/>
            </a:solidFill>
            <a:ln>
              <a:noFill/>
            </a:ln>
            <a:effectLst/>
          </c:spPr>
          <c:invertIfNegative val="0"/>
          <c:dPt>
            <c:idx val="0"/>
            <c:invertIfNegative val="0"/>
            <c:bubble3D val="0"/>
            <c:spPr>
              <a:solidFill>
                <a:srgbClr val="8B5CF6"/>
              </a:solidFill>
              <a:ln>
                <a:solidFill>
                  <a:srgbClr val="8B5CF6"/>
                </a:solidFill>
              </a:ln>
              <a:effectLst/>
            </c:spPr>
            <c:extLst>
              <c:ext xmlns:c16="http://schemas.microsoft.com/office/drawing/2014/chart" uri="{C3380CC4-5D6E-409C-BE32-E72D297353CC}">
                <c16:uniqueId val="{00000028-5D22-4A75-B927-6FD5E1D43A61}"/>
              </c:ext>
            </c:extLst>
          </c:dPt>
          <c:dPt>
            <c:idx val="1"/>
            <c:invertIfNegative val="0"/>
            <c:bubble3D val="0"/>
            <c:spPr>
              <a:solidFill>
                <a:srgbClr val="E2E8F0"/>
              </a:solidFill>
              <a:ln>
                <a:solidFill>
                  <a:srgbClr val="8B5CF6"/>
                </a:solidFill>
              </a:ln>
              <a:effectLst/>
            </c:spPr>
            <c:extLst>
              <c:ext xmlns:c16="http://schemas.microsoft.com/office/drawing/2014/chart" uri="{C3380CC4-5D6E-409C-BE32-E72D297353CC}">
                <c16:uniqueId val="{00000029-5D22-4A75-B927-6FD5E1D43A61}"/>
              </c:ext>
            </c:extLst>
          </c:dPt>
          <c:dPt>
            <c:idx val="2"/>
            <c:invertIfNegative val="0"/>
            <c:bubble3D val="0"/>
            <c:spPr>
              <a:solidFill>
                <a:srgbClr val="E2E8F0"/>
              </a:solidFill>
              <a:ln>
                <a:solidFill>
                  <a:srgbClr val="8B5CF6"/>
                </a:solidFill>
              </a:ln>
              <a:effectLst/>
            </c:spPr>
            <c:extLst>
              <c:ext xmlns:c16="http://schemas.microsoft.com/office/drawing/2014/chart" uri="{C3380CC4-5D6E-409C-BE32-E72D297353CC}">
                <c16:uniqueId val="{0000002A-5D22-4A75-B927-6FD5E1D43A61}"/>
              </c:ext>
            </c:extLst>
          </c:dPt>
          <c:dPt>
            <c:idx val="3"/>
            <c:invertIfNegative val="0"/>
            <c:bubble3D val="0"/>
            <c:spPr>
              <a:solidFill>
                <a:srgbClr val="E2E8F0"/>
              </a:solidFill>
              <a:ln>
                <a:solidFill>
                  <a:srgbClr val="8B5CF6"/>
                </a:solidFill>
              </a:ln>
              <a:effectLst/>
            </c:spPr>
            <c:extLst>
              <c:ext xmlns:c16="http://schemas.microsoft.com/office/drawing/2014/chart" uri="{C3380CC4-5D6E-409C-BE32-E72D297353CC}">
                <c16:uniqueId val="{0000002B-5D22-4A75-B927-6FD5E1D43A61}"/>
              </c:ext>
            </c:extLst>
          </c:dPt>
          <c:dPt>
            <c:idx val="4"/>
            <c:invertIfNegative val="0"/>
            <c:bubble3D val="0"/>
            <c:spPr>
              <a:solidFill>
                <a:srgbClr val="E2E8F0"/>
              </a:solidFill>
              <a:ln>
                <a:solidFill>
                  <a:srgbClr val="8B5CF6"/>
                </a:solidFill>
              </a:ln>
              <a:effectLst/>
            </c:spPr>
            <c:extLst>
              <c:ext xmlns:c16="http://schemas.microsoft.com/office/drawing/2014/chart" uri="{C3380CC4-5D6E-409C-BE32-E72D297353CC}">
                <c16:uniqueId val="{0000002C-5D22-4A75-B927-6FD5E1D43A61}"/>
              </c:ext>
            </c:extLst>
          </c:dPt>
          <c:dPt>
            <c:idx val="5"/>
            <c:invertIfNegative val="0"/>
            <c:bubble3D val="0"/>
            <c:spPr>
              <a:solidFill>
                <a:srgbClr val="8B5CF6"/>
              </a:solidFill>
              <a:ln>
                <a:solidFill>
                  <a:srgbClr val="8B5CF6"/>
                </a:solidFill>
              </a:ln>
              <a:effectLst/>
            </c:spPr>
            <c:extLst>
              <c:ext xmlns:c16="http://schemas.microsoft.com/office/drawing/2014/chart" uri="{C3380CC4-5D6E-409C-BE32-E72D297353CC}">
                <c16:uniqueId val="{0000002D-5D22-4A75-B927-6FD5E1D43A61}"/>
              </c:ext>
            </c:extLst>
          </c:dPt>
          <c:dPt>
            <c:idx val="6"/>
            <c:invertIfNegative val="0"/>
            <c:bubble3D val="0"/>
            <c:spPr>
              <a:solidFill>
                <a:srgbClr val="8B5CF6"/>
              </a:solidFill>
              <a:ln>
                <a:solidFill>
                  <a:srgbClr val="8B5CF6"/>
                </a:solidFill>
              </a:ln>
              <a:effectLst/>
            </c:spPr>
            <c:extLst>
              <c:ext xmlns:c16="http://schemas.microsoft.com/office/drawing/2014/chart" uri="{C3380CC4-5D6E-409C-BE32-E72D297353CC}">
                <c16:uniqueId val="{0000002E-5D22-4A75-B927-6FD5E1D43A61}"/>
              </c:ext>
            </c:extLst>
          </c:dPt>
          <c:dPt>
            <c:idx val="7"/>
            <c:invertIfNegative val="0"/>
            <c:bubble3D val="0"/>
            <c:spPr>
              <a:solidFill>
                <a:srgbClr val="8B5CF6"/>
              </a:solidFill>
              <a:ln>
                <a:solidFill>
                  <a:srgbClr val="8B5CF6"/>
                </a:solidFill>
              </a:ln>
              <a:effectLst/>
            </c:spPr>
            <c:extLst>
              <c:ext xmlns:c16="http://schemas.microsoft.com/office/drawing/2014/chart" uri="{C3380CC4-5D6E-409C-BE32-E72D297353CC}">
                <c16:uniqueId val="{0000002F-5D22-4A75-B927-6FD5E1D43A61}"/>
              </c:ext>
            </c:extLst>
          </c:dPt>
          <c:dPt>
            <c:idx val="8"/>
            <c:invertIfNegative val="0"/>
            <c:bubble3D val="0"/>
            <c:spPr>
              <a:solidFill>
                <a:srgbClr val="E2E8F0"/>
              </a:solidFill>
              <a:ln>
                <a:solidFill>
                  <a:srgbClr val="8B5CF6"/>
                </a:solidFill>
              </a:ln>
              <a:effectLst/>
            </c:spPr>
            <c:extLst>
              <c:ext xmlns:c16="http://schemas.microsoft.com/office/drawing/2014/chart" uri="{C3380CC4-5D6E-409C-BE32-E72D297353CC}">
                <c16:uniqueId val="{00000030-5D22-4A75-B927-6FD5E1D43A61}"/>
              </c:ext>
            </c:extLst>
          </c:dPt>
          <c:dPt>
            <c:idx val="9"/>
            <c:invertIfNegative val="0"/>
            <c:bubble3D val="0"/>
            <c:spPr>
              <a:solidFill>
                <a:srgbClr val="E2E8F0"/>
              </a:solidFill>
              <a:ln>
                <a:solidFill>
                  <a:srgbClr val="8B5CF6"/>
                </a:solidFill>
              </a:ln>
              <a:effectLst/>
            </c:spPr>
            <c:extLst>
              <c:ext xmlns:c16="http://schemas.microsoft.com/office/drawing/2014/chart" uri="{C3380CC4-5D6E-409C-BE32-E72D297353CC}">
                <c16:uniqueId val="{00000031-5D22-4A75-B927-6FD5E1D43A61}"/>
              </c:ext>
            </c:extLst>
          </c:dPt>
          <c:dPt>
            <c:idx val="10"/>
            <c:invertIfNegative val="0"/>
            <c:bubble3D val="0"/>
            <c:spPr>
              <a:solidFill>
                <a:srgbClr val="E2E8F0"/>
              </a:solidFill>
              <a:ln>
                <a:solidFill>
                  <a:srgbClr val="8B5CF6"/>
                </a:solidFill>
              </a:ln>
              <a:effectLst/>
            </c:spPr>
            <c:extLst>
              <c:ext xmlns:c16="http://schemas.microsoft.com/office/drawing/2014/chart" uri="{C3380CC4-5D6E-409C-BE32-E72D297353CC}">
                <c16:uniqueId val="{00000032-5D22-4A75-B927-6FD5E1D43A61}"/>
              </c:ext>
            </c:extLst>
          </c:dPt>
          <c:cat>
            <c:strLit>
              <c:ptCount val="11"/>
              <c:pt idx="0">
                <c:v>SQL Injection</c:v>
              </c:pt>
              <c:pt idx="1">
                <c:v>Command Injection</c:v>
              </c:pt>
              <c:pt idx="2">
                <c:v>NoSQL (route)</c:v>
              </c:pt>
              <c:pt idx="3">
                <c:v>NoSQL (auth)</c:v>
              </c:pt>
              <c:pt idx="4">
                <c:v>NoSQL (session)</c:v>
              </c:pt>
              <c:pt idx="5">
                <c:v>Open Redirect</c:v>
              </c:pt>
              <c:pt idx="6">
                <c:v>Unsafe Deser</c:v>
              </c:pt>
              <c:pt idx="7">
                <c:v>Hardcoded Secret</c:v>
              </c:pt>
              <c:pt idx="8">
                <c:v>Weak Hash</c:v>
              </c:pt>
              <c:pt idx="9">
                <c:v>Env Fallback</c:v>
              </c:pt>
              <c:pt idx="10">
                <c:v>DOM XSS</c:v>
              </c:pt>
            </c:strLit>
          </c:cat>
          <c:val>
            <c:numLit>
              <c:formatCode>General</c:formatCode>
              <c:ptCount val="11"/>
              <c:pt idx="0">
                <c:v>1</c:v>
              </c:pt>
              <c:pt idx="1">
                <c:v>1</c:v>
              </c:pt>
              <c:pt idx="2">
                <c:v>1</c:v>
              </c:pt>
              <c:pt idx="3">
                <c:v>1</c:v>
              </c:pt>
              <c:pt idx="4">
                <c:v>1</c:v>
              </c:pt>
              <c:pt idx="5">
                <c:v>1</c:v>
              </c:pt>
              <c:pt idx="6">
                <c:v>1</c:v>
              </c:pt>
              <c:pt idx="7">
                <c:v>1</c:v>
              </c:pt>
              <c:pt idx="8">
                <c:v>1</c:v>
              </c:pt>
              <c:pt idx="9">
                <c:v>1</c:v>
              </c:pt>
              <c:pt idx="10">
                <c:v>1</c:v>
              </c:pt>
            </c:numLit>
          </c:val>
          <c:extLst>
            <c:ext xmlns:c16="http://schemas.microsoft.com/office/drawing/2014/chart" uri="{C3380CC4-5D6E-409C-BE32-E72D297353CC}">
              <c16:uniqueId val="{00000027-5D22-4A75-B927-6FD5E1D43A61}"/>
            </c:ext>
          </c:extLst>
        </c:ser>
        <c:ser>
          <c:idx val="4"/>
          <c:order val="4"/>
          <c:tx>
            <c:v>CodeQL</c:v>
          </c:tx>
          <c:spPr>
            <a:solidFill>
              <a:schemeClr val="accent5"/>
            </a:solidFill>
            <a:ln>
              <a:noFill/>
            </a:ln>
            <a:effectLst/>
          </c:spPr>
          <c:invertIfNegative val="0"/>
          <c:dPt>
            <c:idx val="0"/>
            <c:invertIfNegative val="0"/>
            <c:bubble3D val="0"/>
            <c:spPr>
              <a:solidFill>
                <a:srgbClr val="EF4444"/>
              </a:solidFill>
              <a:ln>
                <a:solidFill>
                  <a:srgbClr val="EF4444"/>
                </a:solidFill>
              </a:ln>
              <a:effectLst/>
            </c:spPr>
            <c:extLst>
              <c:ext xmlns:c16="http://schemas.microsoft.com/office/drawing/2014/chart" uri="{C3380CC4-5D6E-409C-BE32-E72D297353CC}">
                <c16:uniqueId val="{00000034-5D22-4A75-B927-6FD5E1D43A61}"/>
              </c:ext>
            </c:extLst>
          </c:dPt>
          <c:dPt>
            <c:idx val="1"/>
            <c:invertIfNegative val="0"/>
            <c:bubble3D val="0"/>
            <c:spPr>
              <a:solidFill>
                <a:srgbClr val="EF4444"/>
              </a:solidFill>
              <a:ln>
                <a:solidFill>
                  <a:srgbClr val="EF4444"/>
                </a:solidFill>
              </a:ln>
              <a:effectLst/>
            </c:spPr>
            <c:extLst>
              <c:ext xmlns:c16="http://schemas.microsoft.com/office/drawing/2014/chart" uri="{C3380CC4-5D6E-409C-BE32-E72D297353CC}">
                <c16:uniqueId val="{00000035-5D22-4A75-B927-6FD5E1D43A61}"/>
              </c:ext>
            </c:extLst>
          </c:dPt>
          <c:dPt>
            <c:idx val="2"/>
            <c:invertIfNegative val="0"/>
            <c:bubble3D val="0"/>
            <c:spPr>
              <a:solidFill>
                <a:srgbClr val="E2E8F0"/>
              </a:solidFill>
              <a:ln>
                <a:solidFill>
                  <a:srgbClr val="EF4444"/>
                </a:solidFill>
              </a:ln>
              <a:effectLst/>
            </c:spPr>
            <c:extLst>
              <c:ext xmlns:c16="http://schemas.microsoft.com/office/drawing/2014/chart" uri="{C3380CC4-5D6E-409C-BE32-E72D297353CC}">
                <c16:uniqueId val="{00000036-5D22-4A75-B927-6FD5E1D43A61}"/>
              </c:ext>
            </c:extLst>
          </c:dPt>
          <c:dPt>
            <c:idx val="3"/>
            <c:invertIfNegative val="0"/>
            <c:bubble3D val="0"/>
            <c:spPr>
              <a:solidFill>
                <a:srgbClr val="E2E8F0"/>
              </a:solidFill>
              <a:ln>
                <a:solidFill>
                  <a:srgbClr val="EF4444"/>
                </a:solidFill>
              </a:ln>
              <a:effectLst/>
            </c:spPr>
            <c:extLst>
              <c:ext xmlns:c16="http://schemas.microsoft.com/office/drawing/2014/chart" uri="{C3380CC4-5D6E-409C-BE32-E72D297353CC}">
                <c16:uniqueId val="{00000037-5D22-4A75-B927-6FD5E1D43A61}"/>
              </c:ext>
            </c:extLst>
          </c:dPt>
          <c:dPt>
            <c:idx val="4"/>
            <c:invertIfNegative val="0"/>
            <c:bubble3D val="0"/>
            <c:spPr>
              <a:solidFill>
                <a:srgbClr val="E2E8F0"/>
              </a:solidFill>
              <a:ln>
                <a:solidFill>
                  <a:srgbClr val="EF4444"/>
                </a:solidFill>
              </a:ln>
              <a:effectLst/>
            </c:spPr>
            <c:extLst>
              <c:ext xmlns:c16="http://schemas.microsoft.com/office/drawing/2014/chart" uri="{C3380CC4-5D6E-409C-BE32-E72D297353CC}">
                <c16:uniqueId val="{00000038-5D22-4A75-B927-6FD5E1D43A61}"/>
              </c:ext>
            </c:extLst>
          </c:dPt>
          <c:dPt>
            <c:idx val="5"/>
            <c:invertIfNegative val="0"/>
            <c:bubble3D val="0"/>
            <c:spPr>
              <a:solidFill>
                <a:srgbClr val="EF4444"/>
              </a:solidFill>
              <a:ln>
                <a:solidFill>
                  <a:srgbClr val="EF4444"/>
                </a:solidFill>
              </a:ln>
              <a:effectLst/>
            </c:spPr>
            <c:extLst>
              <c:ext xmlns:c16="http://schemas.microsoft.com/office/drawing/2014/chart" uri="{C3380CC4-5D6E-409C-BE32-E72D297353CC}">
                <c16:uniqueId val="{00000039-5D22-4A75-B927-6FD5E1D43A61}"/>
              </c:ext>
            </c:extLst>
          </c:dPt>
          <c:dPt>
            <c:idx val="6"/>
            <c:invertIfNegative val="0"/>
            <c:bubble3D val="0"/>
            <c:spPr>
              <a:solidFill>
                <a:srgbClr val="EF4444"/>
              </a:solidFill>
              <a:ln>
                <a:solidFill>
                  <a:srgbClr val="EF4444"/>
                </a:solidFill>
              </a:ln>
              <a:effectLst/>
            </c:spPr>
            <c:extLst>
              <c:ext xmlns:c16="http://schemas.microsoft.com/office/drawing/2014/chart" uri="{C3380CC4-5D6E-409C-BE32-E72D297353CC}">
                <c16:uniqueId val="{0000003A-5D22-4A75-B927-6FD5E1D43A61}"/>
              </c:ext>
            </c:extLst>
          </c:dPt>
          <c:dPt>
            <c:idx val="7"/>
            <c:invertIfNegative val="0"/>
            <c:bubble3D val="0"/>
            <c:spPr>
              <a:solidFill>
                <a:srgbClr val="EF4444"/>
              </a:solidFill>
              <a:ln>
                <a:solidFill>
                  <a:srgbClr val="EF4444"/>
                </a:solidFill>
              </a:ln>
              <a:effectLst/>
            </c:spPr>
            <c:extLst>
              <c:ext xmlns:c16="http://schemas.microsoft.com/office/drawing/2014/chart" uri="{C3380CC4-5D6E-409C-BE32-E72D297353CC}">
                <c16:uniqueId val="{0000003B-5D22-4A75-B927-6FD5E1D43A61}"/>
              </c:ext>
            </c:extLst>
          </c:dPt>
          <c:dPt>
            <c:idx val="8"/>
            <c:invertIfNegative val="0"/>
            <c:bubble3D val="0"/>
            <c:spPr>
              <a:solidFill>
                <a:srgbClr val="E2E8F0"/>
              </a:solidFill>
              <a:ln>
                <a:solidFill>
                  <a:srgbClr val="EF4444"/>
                </a:solidFill>
              </a:ln>
              <a:effectLst/>
            </c:spPr>
            <c:extLst>
              <c:ext xmlns:c16="http://schemas.microsoft.com/office/drawing/2014/chart" uri="{C3380CC4-5D6E-409C-BE32-E72D297353CC}">
                <c16:uniqueId val="{0000003C-5D22-4A75-B927-6FD5E1D43A61}"/>
              </c:ext>
            </c:extLst>
          </c:dPt>
          <c:dPt>
            <c:idx val="9"/>
            <c:invertIfNegative val="0"/>
            <c:bubble3D val="0"/>
            <c:spPr>
              <a:solidFill>
                <a:srgbClr val="EF4444"/>
              </a:solidFill>
              <a:ln>
                <a:solidFill>
                  <a:srgbClr val="EF4444"/>
                </a:solidFill>
              </a:ln>
              <a:effectLst/>
            </c:spPr>
            <c:extLst>
              <c:ext xmlns:c16="http://schemas.microsoft.com/office/drawing/2014/chart" uri="{C3380CC4-5D6E-409C-BE32-E72D297353CC}">
                <c16:uniqueId val="{0000003D-5D22-4A75-B927-6FD5E1D43A61}"/>
              </c:ext>
            </c:extLst>
          </c:dPt>
          <c:dPt>
            <c:idx val="10"/>
            <c:invertIfNegative val="0"/>
            <c:bubble3D val="0"/>
            <c:spPr>
              <a:solidFill>
                <a:srgbClr val="E2E8F0"/>
              </a:solidFill>
              <a:ln>
                <a:solidFill>
                  <a:srgbClr val="EF4444"/>
                </a:solidFill>
              </a:ln>
              <a:effectLst/>
            </c:spPr>
            <c:extLst>
              <c:ext xmlns:c16="http://schemas.microsoft.com/office/drawing/2014/chart" uri="{C3380CC4-5D6E-409C-BE32-E72D297353CC}">
                <c16:uniqueId val="{0000003E-5D22-4A75-B927-6FD5E1D43A61}"/>
              </c:ext>
            </c:extLst>
          </c:dPt>
          <c:cat>
            <c:strLit>
              <c:ptCount val="11"/>
              <c:pt idx="0">
                <c:v>SQL Injection</c:v>
              </c:pt>
              <c:pt idx="1">
                <c:v>Command Injection</c:v>
              </c:pt>
              <c:pt idx="2">
                <c:v>NoSQL (route)</c:v>
              </c:pt>
              <c:pt idx="3">
                <c:v>NoSQL (auth)</c:v>
              </c:pt>
              <c:pt idx="4">
                <c:v>NoSQL (session)</c:v>
              </c:pt>
              <c:pt idx="5">
                <c:v>Open Redirect</c:v>
              </c:pt>
              <c:pt idx="6">
                <c:v>Unsafe Deser</c:v>
              </c:pt>
              <c:pt idx="7">
                <c:v>Hardcoded Secret</c:v>
              </c:pt>
              <c:pt idx="8">
                <c:v>Weak Hash</c:v>
              </c:pt>
              <c:pt idx="9">
                <c:v>Env Fallback</c:v>
              </c:pt>
              <c:pt idx="10">
                <c:v>DOM XSS</c:v>
              </c:pt>
            </c:strLit>
          </c:cat>
          <c:val>
            <c:numLit>
              <c:formatCode>General</c:formatCode>
              <c:ptCount val="11"/>
              <c:pt idx="0">
                <c:v>1</c:v>
              </c:pt>
              <c:pt idx="1">
                <c:v>1</c:v>
              </c:pt>
              <c:pt idx="2">
                <c:v>1</c:v>
              </c:pt>
              <c:pt idx="3">
                <c:v>1</c:v>
              </c:pt>
              <c:pt idx="4">
                <c:v>1</c:v>
              </c:pt>
              <c:pt idx="5">
                <c:v>1</c:v>
              </c:pt>
              <c:pt idx="6">
                <c:v>1</c:v>
              </c:pt>
              <c:pt idx="7">
                <c:v>1</c:v>
              </c:pt>
              <c:pt idx="8">
                <c:v>1</c:v>
              </c:pt>
              <c:pt idx="9">
                <c:v>1</c:v>
              </c:pt>
              <c:pt idx="10">
                <c:v>1</c:v>
              </c:pt>
            </c:numLit>
          </c:val>
          <c:extLst>
            <c:ext xmlns:c16="http://schemas.microsoft.com/office/drawing/2014/chart" uri="{C3380CC4-5D6E-409C-BE32-E72D297353CC}">
              <c16:uniqueId val="{00000033-5D22-4A75-B927-6FD5E1D43A61}"/>
            </c:ext>
          </c:extLst>
        </c:ser>
        <c:ser>
          <c:idx val="5"/>
          <c:order val="5"/>
          <c:tx>
            <c:v>eslint-plugin-security</c:v>
          </c:tx>
          <c:spPr>
            <a:solidFill>
              <a:schemeClr val="accent6"/>
            </a:solidFill>
            <a:ln>
              <a:noFill/>
            </a:ln>
            <a:effectLst/>
          </c:spPr>
          <c:invertIfNegative val="0"/>
          <c:dPt>
            <c:idx val="0"/>
            <c:invertIfNegative val="0"/>
            <c:bubble3D val="0"/>
            <c:spPr>
              <a:solidFill>
                <a:srgbClr val="0EA5E9"/>
              </a:solidFill>
              <a:ln>
                <a:solidFill>
                  <a:srgbClr val="0EA5E9"/>
                </a:solidFill>
              </a:ln>
              <a:effectLst/>
            </c:spPr>
            <c:extLst>
              <c:ext xmlns:c16="http://schemas.microsoft.com/office/drawing/2014/chart" uri="{C3380CC4-5D6E-409C-BE32-E72D297353CC}">
                <c16:uniqueId val="{00000040-5D22-4A75-B927-6FD5E1D43A61}"/>
              </c:ext>
            </c:extLst>
          </c:dPt>
          <c:dPt>
            <c:idx val="1"/>
            <c:invertIfNegative val="0"/>
            <c:bubble3D val="0"/>
            <c:spPr>
              <a:solidFill>
                <a:srgbClr val="E2E8F0"/>
              </a:solidFill>
              <a:ln>
                <a:solidFill>
                  <a:srgbClr val="0EA5E9"/>
                </a:solidFill>
              </a:ln>
              <a:effectLst/>
            </c:spPr>
            <c:extLst>
              <c:ext xmlns:c16="http://schemas.microsoft.com/office/drawing/2014/chart" uri="{C3380CC4-5D6E-409C-BE32-E72D297353CC}">
                <c16:uniqueId val="{00000041-5D22-4A75-B927-6FD5E1D43A61}"/>
              </c:ext>
            </c:extLst>
          </c:dPt>
          <c:dPt>
            <c:idx val="2"/>
            <c:invertIfNegative val="0"/>
            <c:bubble3D val="0"/>
            <c:spPr>
              <a:solidFill>
                <a:srgbClr val="E2E8F0"/>
              </a:solidFill>
              <a:ln>
                <a:solidFill>
                  <a:srgbClr val="0EA5E9"/>
                </a:solidFill>
              </a:ln>
              <a:effectLst/>
            </c:spPr>
            <c:extLst>
              <c:ext xmlns:c16="http://schemas.microsoft.com/office/drawing/2014/chart" uri="{C3380CC4-5D6E-409C-BE32-E72D297353CC}">
                <c16:uniqueId val="{00000042-5D22-4A75-B927-6FD5E1D43A61}"/>
              </c:ext>
            </c:extLst>
          </c:dPt>
          <c:dPt>
            <c:idx val="3"/>
            <c:invertIfNegative val="0"/>
            <c:bubble3D val="0"/>
            <c:spPr>
              <a:solidFill>
                <a:srgbClr val="E2E8F0"/>
              </a:solidFill>
              <a:ln>
                <a:solidFill>
                  <a:srgbClr val="0EA5E9"/>
                </a:solidFill>
              </a:ln>
              <a:effectLst/>
            </c:spPr>
            <c:extLst>
              <c:ext xmlns:c16="http://schemas.microsoft.com/office/drawing/2014/chart" uri="{C3380CC4-5D6E-409C-BE32-E72D297353CC}">
                <c16:uniqueId val="{00000043-5D22-4A75-B927-6FD5E1D43A61}"/>
              </c:ext>
            </c:extLst>
          </c:dPt>
          <c:dPt>
            <c:idx val="4"/>
            <c:invertIfNegative val="0"/>
            <c:bubble3D val="0"/>
            <c:spPr>
              <a:solidFill>
                <a:srgbClr val="E2E8F0"/>
              </a:solidFill>
              <a:ln>
                <a:solidFill>
                  <a:srgbClr val="0EA5E9"/>
                </a:solidFill>
              </a:ln>
              <a:effectLst/>
            </c:spPr>
            <c:extLst>
              <c:ext xmlns:c16="http://schemas.microsoft.com/office/drawing/2014/chart" uri="{C3380CC4-5D6E-409C-BE32-E72D297353CC}">
                <c16:uniqueId val="{00000044-5D22-4A75-B927-6FD5E1D43A61}"/>
              </c:ext>
            </c:extLst>
          </c:dPt>
          <c:dPt>
            <c:idx val="5"/>
            <c:invertIfNegative val="0"/>
            <c:bubble3D val="0"/>
            <c:spPr>
              <a:solidFill>
                <a:srgbClr val="E2E8F0"/>
              </a:solidFill>
              <a:ln>
                <a:solidFill>
                  <a:srgbClr val="0EA5E9"/>
                </a:solidFill>
              </a:ln>
              <a:effectLst/>
            </c:spPr>
            <c:extLst>
              <c:ext xmlns:c16="http://schemas.microsoft.com/office/drawing/2014/chart" uri="{C3380CC4-5D6E-409C-BE32-E72D297353CC}">
                <c16:uniqueId val="{00000045-5D22-4A75-B927-6FD5E1D43A61}"/>
              </c:ext>
            </c:extLst>
          </c:dPt>
          <c:dPt>
            <c:idx val="6"/>
            <c:invertIfNegative val="0"/>
            <c:bubble3D val="0"/>
            <c:spPr>
              <a:solidFill>
                <a:srgbClr val="E2E8F0"/>
              </a:solidFill>
              <a:ln>
                <a:solidFill>
                  <a:srgbClr val="0EA5E9"/>
                </a:solidFill>
              </a:ln>
              <a:effectLst/>
            </c:spPr>
            <c:extLst>
              <c:ext xmlns:c16="http://schemas.microsoft.com/office/drawing/2014/chart" uri="{C3380CC4-5D6E-409C-BE32-E72D297353CC}">
                <c16:uniqueId val="{00000046-5D22-4A75-B927-6FD5E1D43A61}"/>
              </c:ext>
            </c:extLst>
          </c:dPt>
          <c:dPt>
            <c:idx val="7"/>
            <c:invertIfNegative val="0"/>
            <c:bubble3D val="0"/>
            <c:spPr>
              <a:solidFill>
                <a:srgbClr val="E2E8F0"/>
              </a:solidFill>
              <a:ln>
                <a:solidFill>
                  <a:srgbClr val="0EA5E9"/>
                </a:solidFill>
              </a:ln>
              <a:effectLst/>
            </c:spPr>
            <c:extLst>
              <c:ext xmlns:c16="http://schemas.microsoft.com/office/drawing/2014/chart" uri="{C3380CC4-5D6E-409C-BE32-E72D297353CC}">
                <c16:uniqueId val="{00000047-5D22-4A75-B927-6FD5E1D43A61}"/>
              </c:ext>
            </c:extLst>
          </c:dPt>
          <c:dPt>
            <c:idx val="8"/>
            <c:invertIfNegative val="0"/>
            <c:bubble3D val="0"/>
            <c:spPr>
              <a:solidFill>
                <a:srgbClr val="E2E8F0"/>
              </a:solidFill>
              <a:ln>
                <a:solidFill>
                  <a:srgbClr val="0EA5E9"/>
                </a:solidFill>
              </a:ln>
              <a:effectLst/>
            </c:spPr>
            <c:extLst>
              <c:ext xmlns:c16="http://schemas.microsoft.com/office/drawing/2014/chart" uri="{C3380CC4-5D6E-409C-BE32-E72D297353CC}">
                <c16:uniqueId val="{00000048-5D22-4A75-B927-6FD5E1D43A61}"/>
              </c:ext>
            </c:extLst>
          </c:dPt>
          <c:dPt>
            <c:idx val="9"/>
            <c:invertIfNegative val="0"/>
            <c:bubble3D val="0"/>
            <c:spPr>
              <a:solidFill>
                <a:srgbClr val="E2E8F0"/>
              </a:solidFill>
              <a:ln>
                <a:solidFill>
                  <a:srgbClr val="0EA5E9"/>
                </a:solidFill>
              </a:ln>
              <a:effectLst/>
            </c:spPr>
            <c:extLst>
              <c:ext xmlns:c16="http://schemas.microsoft.com/office/drawing/2014/chart" uri="{C3380CC4-5D6E-409C-BE32-E72D297353CC}">
                <c16:uniqueId val="{00000049-5D22-4A75-B927-6FD5E1D43A61}"/>
              </c:ext>
            </c:extLst>
          </c:dPt>
          <c:dPt>
            <c:idx val="10"/>
            <c:invertIfNegative val="0"/>
            <c:bubble3D val="0"/>
            <c:spPr>
              <a:solidFill>
                <a:srgbClr val="E2E8F0"/>
              </a:solidFill>
              <a:ln>
                <a:solidFill>
                  <a:srgbClr val="0EA5E9"/>
                </a:solidFill>
              </a:ln>
              <a:effectLst/>
            </c:spPr>
            <c:extLst>
              <c:ext xmlns:c16="http://schemas.microsoft.com/office/drawing/2014/chart" uri="{C3380CC4-5D6E-409C-BE32-E72D297353CC}">
                <c16:uniqueId val="{0000004A-5D22-4A75-B927-6FD5E1D43A61}"/>
              </c:ext>
            </c:extLst>
          </c:dPt>
          <c:cat>
            <c:strLit>
              <c:ptCount val="11"/>
              <c:pt idx="0">
                <c:v>SQL Injection</c:v>
              </c:pt>
              <c:pt idx="1">
                <c:v>Command Injection</c:v>
              </c:pt>
              <c:pt idx="2">
                <c:v>NoSQL (route)</c:v>
              </c:pt>
              <c:pt idx="3">
                <c:v>NoSQL (auth)</c:v>
              </c:pt>
              <c:pt idx="4">
                <c:v>NoSQL (session)</c:v>
              </c:pt>
              <c:pt idx="5">
                <c:v>Open Redirect</c:v>
              </c:pt>
              <c:pt idx="6">
                <c:v>Unsafe Deser</c:v>
              </c:pt>
              <c:pt idx="7">
                <c:v>Hardcoded Secret</c:v>
              </c:pt>
              <c:pt idx="8">
                <c:v>Weak Hash</c:v>
              </c:pt>
              <c:pt idx="9">
                <c:v>Env Fallback</c:v>
              </c:pt>
              <c:pt idx="10">
                <c:v>DOM XSS</c:v>
              </c:pt>
            </c:strLit>
          </c:cat>
          <c:val>
            <c:numLit>
              <c:formatCode>General</c:formatCode>
              <c:ptCount val="11"/>
              <c:pt idx="0">
                <c:v>1</c:v>
              </c:pt>
              <c:pt idx="1">
                <c:v>1</c:v>
              </c:pt>
              <c:pt idx="2">
                <c:v>1</c:v>
              </c:pt>
              <c:pt idx="3">
                <c:v>1</c:v>
              </c:pt>
              <c:pt idx="4">
                <c:v>1</c:v>
              </c:pt>
              <c:pt idx="5">
                <c:v>1</c:v>
              </c:pt>
              <c:pt idx="6">
                <c:v>1</c:v>
              </c:pt>
              <c:pt idx="7">
                <c:v>1</c:v>
              </c:pt>
              <c:pt idx="8">
                <c:v>1</c:v>
              </c:pt>
              <c:pt idx="9">
                <c:v>1</c:v>
              </c:pt>
              <c:pt idx="10">
                <c:v>1</c:v>
              </c:pt>
            </c:numLit>
          </c:val>
          <c:extLst>
            <c:ext xmlns:c16="http://schemas.microsoft.com/office/drawing/2014/chart" uri="{C3380CC4-5D6E-409C-BE32-E72D297353CC}">
              <c16:uniqueId val="{0000003F-5D22-4A75-B927-6FD5E1D43A61}"/>
            </c:ext>
          </c:extLst>
        </c:ser>
        <c:dLbls>
          <c:showLegendKey val="0"/>
          <c:showVal val="0"/>
          <c:showCatName val="0"/>
          <c:showSerName val="0"/>
          <c:showPercent val="0"/>
          <c:showBubbleSize val="0"/>
        </c:dLbls>
        <c:gapWidth val="20"/>
        <c:overlap val="-27"/>
        <c:axId val="45982912"/>
        <c:axId val="45983872"/>
      </c:barChart>
      <c:catAx>
        <c:axId val="45982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5983872"/>
        <c:crosses val="autoZero"/>
        <c:auto val="1"/>
        <c:lblAlgn val="ctr"/>
        <c:lblOffset val="100"/>
        <c:noMultiLvlLbl val="0"/>
      </c:catAx>
      <c:valAx>
        <c:axId val="45983872"/>
        <c:scaling>
          <c:orientation val="minMax"/>
          <c:max val="1.2"/>
          <c:min val="0"/>
        </c:scaling>
        <c:delete val="0"/>
        <c:axPos val="l"/>
        <c:numFmt formatCode="General" sourceLinked="1"/>
        <c:majorTickMark val="none"/>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5982912"/>
        <c:crosses val="autoZero"/>
        <c:crossBetween val="between"/>
        <c:majorUnit val="1"/>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clustered"/>
        <c:varyColors val="0"/>
        <c:ser>
          <c:idx val="0"/>
          <c:order val="0"/>
          <c:tx>
            <c:v>Difficulty (ETS delta)</c:v>
          </c:tx>
          <c:spPr>
            <a:solidFill>
              <a:srgbClr val="60A5FA"/>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11"/>
              <c:pt idx="0">
                <c:v>SQL Injection</c:v>
              </c:pt>
              <c:pt idx="1">
                <c:v>Command Injection</c:v>
              </c:pt>
              <c:pt idx="2">
                <c:v>NoSQL (route)</c:v>
              </c:pt>
              <c:pt idx="3">
                <c:v>NoSQL (auth)</c:v>
              </c:pt>
              <c:pt idx="4">
                <c:v>NoSQL (session)</c:v>
              </c:pt>
              <c:pt idx="5">
                <c:v>Open Redirect</c:v>
              </c:pt>
              <c:pt idx="6">
                <c:v>Unsafe Deser</c:v>
              </c:pt>
              <c:pt idx="7">
                <c:v>Hardcoded Secret</c:v>
              </c:pt>
              <c:pt idx="8">
                <c:v>Weak Hash</c:v>
              </c:pt>
              <c:pt idx="9">
                <c:v>Env Fallback</c:v>
              </c:pt>
              <c:pt idx="10">
                <c:v>DOM XSS</c:v>
              </c:pt>
            </c:strLit>
          </c:cat>
          <c:val>
            <c:numLit>
              <c:formatCode>General</c:formatCode>
              <c:ptCount val="11"/>
              <c:pt idx="0">
                <c:v>7.4680234900522215</c:v>
              </c:pt>
              <c:pt idx="1">
                <c:v>11.277090802419883</c:v>
              </c:pt>
              <c:pt idx="2">
                <c:v>14.722909197580117</c:v>
              </c:pt>
              <c:pt idx="3">
                <c:v>14.722909197580117</c:v>
              </c:pt>
              <c:pt idx="4">
                <c:v>14.722909197580117</c:v>
              </c:pt>
              <c:pt idx="5">
                <c:v>9.1303137333812732</c:v>
              </c:pt>
              <c:pt idx="6">
                <c:v>11.277090802419883</c:v>
              </c:pt>
              <c:pt idx="7">
                <c:v>9.1303137333812732</c:v>
              </c:pt>
              <c:pt idx="8">
                <c:v>13</c:v>
              </c:pt>
              <c:pt idx="9">
                <c:v>14.722909197580117</c:v>
              </c:pt>
              <c:pt idx="10">
                <c:v>14.722909197580117</c:v>
              </c:pt>
            </c:numLit>
          </c:val>
          <c:extLst>
            <c:ext xmlns:c16="http://schemas.microsoft.com/office/drawing/2014/chart" uri="{C3380CC4-5D6E-409C-BE32-E72D297353CC}">
              <c16:uniqueId val="{00000003-810A-4F39-B343-711189B3A87C}"/>
            </c:ext>
          </c:extLst>
        </c:ser>
        <c:dLbls>
          <c:showLegendKey val="0"/>
          <c:showVal val="0"/>
          <c:showCatName val="0"/>
          <c:showSerName val="0"/>
          <c:showPercent val="0"/>
          <c:showBubbleSize val="0"/>
        </c:dLbls>
        <c:gapWidth val="219"/>
        <c:overlap val="-27"/>
        <c:axId val="482211152"/>
        <c:axId val="482208272"/>
      </c:barChart>
      <c:catAx>
        <c:axId val="482211152"/>
        <c:scaling>
          <c:orientation val="minMax"/>
        </c:scaling>
        <c:delete val="0"/>
        <c:axPos val="r"/>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nb-NO"/>
                  <a:t>Delta (13 - 4z), higher = harder</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82208272"/>
        <c:crosses val="autoZero"/>
        <c:auto val="1"/>
        <c:lblAlgn val="ctr"/>
        <c:lblOffset val="100"/>
        <c:noMultiLvlLbl val="0"/>
      </c:catAx>
      <c:valAx>
        <c:axId val="482208272"/>
        <c:scaling>
          <c:orientation val="maxMin"/>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822111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v>Total hits (of 11)</c:v>
          </c:tx>
          <c:spPr>
            <a:solidFill>
              <a:schemeClr val="accent1"/>
            </a:solidFill>
            <a:ln>
              <a:noFill/>
            </a:ln>
            <a:effectLst/>
          </c:spPr>
          <c:invertIfNegative val="0"/>
          <c:dPt>
            <c:idx val="0"/>
            <c:invertIfNegative val="0"/>
            <c:bubble3D val="0"/>
            <c:spPr>
              <a:solidFill>
                <a:srgbClr val="16A34A"/>
              </a:solidFill>
              <a:ln>
                <a:solidFill>
                  <a:srgbClr val="16A34A"/>
                </a:solidFill>
              </a:ln>
              <a:effectLst/>
            </c:spPr>
            <c:extLst>
              <c:ext xmlns:c16="http://schemas.microsoft.com/office/drawing/2014/chart" uri="{C3380CC4-5D6E-409C-BE32-E72D297353CC}">
                <c16:uniqueId val="{00000004-0DBE-412A-8E8B-D764C70416B4}"/>
              </c:ext>
            </c:extLst>
          </c:dPt>
          <c:dPt>
            <c:idx val="1"/>
            <c:invertIfNegative val="0"/>
            <c:bubble3D val="0"/>
            <c:spPr>
              <a:solidFill>
                <a:srgbClr val="2563EB"/>
              </a:solidFill>
              <a:ln>
                <a:solidFill>
                  <a:srgbClr val="2563EB"/>
                </a:solidFill>
              </a:ln>
              <a:effectLst/>
            </c:spPr>
            <c:extLst>
              <c:ext xmlns:c16="http://schemas.microsoft.com/office/drawing/2014/chart" uri="{C3380CC4-5D6E-409C-BE32-E72D297353CC}">
                <c16:uniqueId val="{00000005-0DBE-412A-8E8B-D764C70416B4}"/>
              </c:ext>
            </c:extLst>
          </c:dPt>
          <c:dPt>
            <c:idx val="2"/>
            <c:invertIfNegative val="0"/>
            <c:bubble3D val="0"/>
            <c:spPr>
              <a:solidFill>
                <a:srgbClr val="F59E0B"/>
              </a:solidFill>
              <a:ln>
                <a:solidFill>
                  <a:srgbClr val="F59E0B"/>
                </a:solidFill>
              </a:ln>
              <a:effectLst/>
            </c:spPr>
            <c:extLst>
              <c:ext xmlns:c16="http://schemas.microsoft.com/office/drawing/2014/chart" uri="{C3380CC4-5D6E-409C-BE32-E72D297353CC}">
                <c16:uniqueId val="{00000006-0DBE-412A-8E8B-D764C70416B4}"/>
              </c:ext>
            </c:extLst>
          </c:dPt>
          <c:dPt>
            <c:idx val="3"/>
            <c:invertIfNegative val="0"/>
            <c:bubble3D val="0"/>
            <c:spPr>
              <a:solidFill>
                <a:srgbClr val="8B5CF6"/>
              </a:solidFill>
              <a:ln>
                <a:solidFill>
                  <a:srgbClr val="8B5CF6"/>
                </a:solidFill>
              </a:ln>
              <a:effectLst/>
            </c:spPr>
            <c:extLst>
              <c:ext xmlns:c16="http://schemas.microsoft.com/office/drawing/2014/chart" uri="{C3380CC4-5D6E-409C-BE32-E72D297353CC}">
                <c16:uniqueId val="{00000007-0DBE-412A-8E8B-D764C70416B4}"/>
              </c:ext>
            </c:extLst>
          </c:dPt>
          <c:dPt>
            <c:idx val="4"/>
            <c:invertIfNegative val="0"/>
            <c:bubble3D val="0"/>
            <c:spPr>
              <a:solidFill>
                <a:srgbClr val="EF4444"/>
              </a:solidFill>
              <a:ln>
                <a:solidFill>
                  <a:srgbClr val="EF4444"/>
                </a:solidFill>
              </a:ln>
              <a:effectLst/>
            </c:spPr>
            <c:extLst>
              <c:ext xmlns:c16="http://schemas.microsoft.com/office/drawing/2014/chart" uri="{C3380CC4-5D6E-409C-BE32-E72D297353CC}">
                <c16:uniqueId val="{00000008-0DBE-412A-8E8B-D764C70416B4}"/>
              </c:ext>
            </c:extLst>
          </c:dPt>
          <c:dPt>
            <c:idx val="5"/>
            <c:invertIfNegative val="0"/>
            <c:bubble3D val="0"/>
            <c:spPr>
              <a:solidFill>
                <a:srgbClr val="0EA5E9"/>
              </a:solidFill>
              <a:ln>
                <a:solidFill>
                  <a:srgbClr val="0EA5E9"/>
                </a:solidFill>
              </a:ln>
              <a:effectLst/>
            </c:spPr>
            <c:extLst>
              <c:ext xmlns:c16="http://schemas.microsoft.com/office/drawing/2014/chart" uri="{C3380CC4-5D6E-409C-BE32-E72D297353CC}">
                <c16:uniqueId val="{00000009-0DBE-412A-8E8B-D764C70416B4}"/>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6"/>
              <c:pt idx="0">
                <c:v>VibeScan</c:v>
              </c:pt>
              <c:pt idx="1">
                <c:v>Bearer</c:v>
              </c:pt>
              <c:pt idx="2">
                <c:v>Snyk Code</c:v>
              </c:pt>
              <c:pt idx="3">
                <c:v>Semgrep</c:v>
              </c:pt>
              <c:pt idx="4">
                <c:v>CodeQL</c:v>
              </c:pt>
              <c:pt idx="5">
                <c:v>eslint-plugin-security</c:v>
              </c:pt>
            </c:strLit>
          </c:cat>
          <c:val>
            <c:numLit>
              <c:formatCode>General</c:formatCode>
              <c:ptCount val="6"/>
              <c:pt idx="0">
                <c:v>11</c:v>
              </c:pt>
              <c:pt idx="1">
                <c:v>8</c:v>
              </c:pt>
              <c:pt idx="2">
                <c:v>7</c:v>
              </c:pt>
              <c:pt idx="3">
                <c:v>4</c:v>
              </c:pt>
              <c:pt idx="4">
                <c:v>6</c:v>
              </c:pt>
              <c:pt idx="5">
                <c:v>1</c:v>
              </c:pt>
            </c:numLit>
          </c:val>
          <c:extLst>
            <c:ext xmlns:c16="http://schemas.microsoft.com/office/drawing/2014/chart" uri="{C3380CC4-5D6E-409C-BE32-E72D297353CC}">
              <c16:uniqueId val="{00000003-0DBE-412A-8E8B-D764C70416B4}"/>
            </c:ext>
          </c:extLst>
        </c:ser>
        <c:dLbls>
          <c:showLegendKey val="0"/>
          <c:showVal val="0"/>
          <c:showCatName val="0"/>
          <c:showSerName val="0"/>
          <c:showPercent val="0"/>
          <c:showBubbleSize val="0"/>
        </c:dLbls>
        <c:gapWidth val="219"/>
        <c:overlap val="-27"/>
        <c:axId val="482225072"/>
        <c:axId val="482225552"/>
      </c:barChart>
      <c:catAx>
        <c:axId val="4822250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82225552"/>
        <c:crosses val="autoZero"/>
        <c:auto val="1"/>
        <c:lblAlgn val="ctr"/>
        <c:lblOffset val="100"/>
        <c:noMultiLvlLbl val="0"/>
      </c:catAx>
      <c:valAx>
        <c:axId val="482225552"/>
        <c:scaling>
          <c:orientation val="minMax"/>
          <c:max val="11"/>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82225072"/>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v>Tools</c:v>
          </c:tx>
          <c:spPr>
            <a:ln w="25400" cap="rnd">
              <a:noFill/>
              <a:round/>
            </a:ln>
            <a:effectLst/>
          </c:spPr>
          <c:marker>
            <c:symbol val="circle"/>
            <c:size val="5"/>
            <c:spPr>
              <a:solidFill>
                <a:schemeClr val="accent1"/>
              </a:solidFill>
              <a:ln w="9525">
                <a:solidFill>
                  <a:schemeClr val="accent1"/>
                </a:solidFill>
              </a:ln>
              <a:effectLst/>
            </c:spPr>
          </c:marker>
          <c:dPt>
            <c:idx val="0"/>
            <c:marker>
              <c:symbol val="circle"/>
              <c:size val="11"/>
              <c:spPr>
                <a:solidFill>
                  <a:srgbClr val="16A34A"/>
                </a:solidFill>
                <a:ln w="9525">
                  <a:solidFill>
                    <a:schemeClr val="accent1"/>
                  </a:solidFill>
                </a:ln>
                <a:effectLst/>
              </c:spPr>
            </c:marker>
            <c:bubble3D val="0"/>
            <c:spPr>
              <a:ln w="25400" cap="rnd">
                <a:noFill/>
                <a:round/>
              </a:ln>
              <a:effectLst/>
            </c:spPr>
            <c:extLst>
              <c:ext xmlns:c16="http://schemas.microsoft.com/office/drawing/2014/chart" uri="{C3380CC4-5D6E-409C-BE32-E72D297353CC}">
                <c16:uniqueId val="{00000002-6F51-42CF-BAE5-2C000369B3B6}"/>
              </c:ext>
            </c:extLst>
          </c:dPt>
          <c:dPt>
            <c:idx val="1"/>
            <c:marker>
              <c:symbol val="circle"/>
              <c:size val="8"/>
              <c:spPr>
                <a:solidFill>
                  <a:srgbClr val="2563EB"/>
                </a:solidFill>
                <a:ln w="9525">
                  <a:solidFill>
                    <a:schemeClr val="accent1"/>
                  </a:solidFill>
                </a:ln>
                <a:effectLst/>
              </c:spPr>
            </c:marker>
            <c:bubble3D val="0"/>
            <c:spPr>
              <a:ln w="25400" cap="rnd">
                <a:noFill/>
                <a:round/>
              </a:ln>
              <a:effectLst/>
            </c:spPr>
            <c:extLst>
              <c:ext xmlns:c16="http://schemas.microsoft.com/office/drawing/2014/chart" uri="{C3380CC4-5D6E-409C-BE32-E72D297353CC}">
                <c16:uniqueId val="{00000003-6F51-42CF-BAE5-2C000369B3B6}"/>
              </c:ext>
            </c:extLst>
          </c:dPt>
          <c:dPt>
            <c:idx val="2"/>
            <c:marker>
              <c:symbol val="circle"/>
              <c:size val="8"/>
              <c:spPr>
                <a:solidFill>
                  <a:srgbClr val="F59E0B"/>
                </a:solidFill>
                <a:ln w="9525">
                  <a:solidFill>
                    <a:schemeClr val="accent1"/>
                  </a:solidFill>
                </a:ln>
                <a:effectLst/>
              </c:spPr>
            </c:marker>
            <c:bubble3D val="0"/>
            <c:spPr>
              <a:ln w="25400" cap="rnd">
                <a:noFill/>
                <a:round/>
              </a:ln>
              <a:effectLst/>
            </c:spPr>
            <c:extLst>
              <c:ext xmlns:c16="http://schemas.microsoft.com/office/drawing/2014/chart" uri="{C3380CC4-5D6E-409C-BE32-E72D297353CC}">
                <c16:uniqueId val="{00000004-6F51-42CF-BAE5-2C000369B3B6}"/>
              </c:ext>
            </c:extLst>
          </c:dPt>
          <c:dPt>
            <c:idx val="3"/>
            <c:marker>
              <c:symbol val="circle"/>
              <c:size val="8"/>
              <c:spPr>
                <a:solidFill>
                  <a:srgbClr val="8B5CF6"/>
                </a:solidFill>
                <a:ln w="9525">
                  <a:solidFill>
                    <a:schemeClr val="accent1"/>
                  </a:solidFill>
                </a:ln>
                <a:effectLst/>
              </c:spPr>
            </c:marker>
            <c:bubble3D val="0"/>
            <c:spPr>
              <a:ln w="25400" cap="rnd">
                <a:noFill/>
                <a:round/>
              </a:ln>
              <a:effectLst/>
            </c:spPr>
            <c:extLst>
              <c:ext xmlns:c16="http://schemas.microsoft.com/office/drawing/2014/chart" uri="{C3380CC4-5D6E-409C-BE32-E72D297353CC}">
                <c16:uniqueId val="{00000005-6F51-42CF-BAE5-2C000369B3B6}"/>
              </c:ext>
            </c:extLst>
          </c:dPt>
          <c:dPt>
            <c:idx val="4"/>
            <c:marker>
              <c:symbol val="circle"/>
              <c:size val="8"/>
              <c:spPr>
                <a:solidFill>
                  <a:srgbClr val="EF4444"/>
                </a:solidFill>
                <a:ln w="9525">
                  <a:solidFill>
                    <a:schemeClr val="accent1"/>
                  </a:solidFill>
                </a:ln>
                <a:effectLst/>
              </c:spPr>
            </c:marker>
            <c:bubble3D val="0"/>
            <c:spPr>
              <a:ln w="25400" cap="rnd">
                <a:noFill/>
                <a:round/>
              </a:ln>
              <a:effectLst/>
            </c:spPr>
            <c:extLst>
              <c:ext xmlns:c16="http://schemas.microsoft.com/office/drawing/2014/chart" uri="{C3380CC4-5D6E-409C-BE32-E72D297353CC}">
                <c16:uniqueId val="{00000006-6F51-42CF-BAE5-2C000369B3B6}"/>
              </c:ext>
            </c:extLst>
          </c:dPt>
          <c:dPt>
            <c:idx val="5"/>
            <c:marker>
              <c:symbol val="circle"/>
              <c:size val="8"/>
              <c:spPr>
                <a:solidFill>
                  <a:srgbClr val="0EA5E9"/>
                </a:solidFill>
                <a:ln w="9525">
                  <a:solidFill>
                    <a:schemeClr val="accent1"/>
                  </a:solidFill>
                </a:ln>
                <a:effectLst/>
              </c:spPr>
            </c:marker>
            <c:bubble3D val="0"/>
            <c:spPr>
              <a:ln w="25400" cap="rnd">
                <a:noFill/>
                <a:round/>
              </a:ln>
              <a:effectLst/>
            </c:spPr>
            <c:extLst>
              <c:ext xmlns:c16="http://schemas.microsoft.com/office/drawing/2014/chart" uri="{C3380CC4-5D6E-409C-BE32-E72D297353CC}">
                <c16:uniqueId val="{00000007-6F51-42CF-BAE5-2C000369B3B6}"/>
              </c:ext>
            </c:extLst>
          </c:dPt>
          <c:dLbls>
            <c:dLbl>
              <c:idx val="0"/>
              <c:tx>
                <c:rich>
                  <a:bodyPr/>
                  <a:lstStyle/>
                  <a:p>
                    <a:r>
                      <a:rPr lang="en-US"/>
                      <a:t>VibeScan</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6F51-42CF-BAE5-2C000369B3B6}"/>
                </c:ext>
              </c:extLst>
            </c:dLbl>
            <c:dLbl>
              <c:idx val="1"/>
              <c:tx>
                <c:rich>
                  <a:bodyPr/>
                  <a:lstStyle/>
                  <a:p>
                    <a:r>
                      <a:rPr lang="en-US"/>
                      <a:t>Bearer</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F51-42CF-BAE5-2C000369B3B6}"/>
                </c:ext>
              </c:extLst>
            </c:dLbl>
            <c:dLbl>
              <c:idx val="2"/>
              <c:tx>
                <c:rich>
                  <a:bodyPr/>
                  <a:lstStyle/>
                  <a:p>
                    <a:r>
                      <a:rPr lang="en-US"/>
                      <a:t>Snyk Code</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6F51-42CF-BAE5-2C000369B3B6}"/>
                </c:ext>
              </c:extLst>
            </c:dLbl>
            <c:dLbl>
              <c:idx val="3"/>
              <c:tx>
                <c:rich>
                  <a:bodyPr/>
                  <a:lstStyle/>
                  <a:p>
                    <a:r>
                      <a:rPr lang="en-US"/>
                      <a:t>Semgrep</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6F51-42CF-BAE5-2C000369B3B6}"/>
                </c:ext>
              </c:extLst>
            </c:dLbl>
            <c:dLbl>
              <c:idx val="4"/>
              <c:tx>
                <c:rich>
                  <a:bodyPr/>
                  <a:lstStyle/>
                  <a:p>
                    <a:r>
                      <a:rPr lang="en-US"/>
                      <a:t>CodeQL</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6F51-42CF-BAE5-2C000369B3B6}"/>
                </c:ext>
              </c:extLst>
            </c:dLbl>
            <c:dLbl>
              <c:idx val="5"/>
              <c:tx>
                <c:rich>
                  <a:bodyPr/>
                  <a:lstStyle/>
                  <a:p>
                    <a:r>
                      <a:rPr lang="en-US"/>
                      <a:t>eslint-plugin-security</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6F51-42CF-BAE5-2C000369B3B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Lit>
              <c:formatCode>General</c:formatCode>
              <c:ptCount val="6"/>
              <c:pt idx="0">
                <c:v>0.44</c:v>
              </c:pt>
              <c:pt idx="1">
                <c:v>0.25806451612903225</c:v>
              </c:pt>
              <c:pt idx="2">
                <c:v>0.19444444444444445</c:v>
              </c:pt>
              <c:pt idx="3">
                <c:v>0.36363636363636365</c:v>
              </c:pt>
              <c:pt idx="4">
                <c:v>0.13043478260869565</c:v>
              </c:pt>
              <c:pt idx="5">
                <c:v>2.0283975659229209E-3</c:v>
              </c:pt>
            </c:numLit>
          </c:xVal>
          <c:yVal>
            <c:numLit>
              <c:formatCode>General</c:formatCode>
              <c:ptCount val="6"/>
              <c:pt idx="0">
                <c:v>100</c:v>
              </c:pt>
              <c:pt idx="1">
                <c:v>72.727272727272734</c:v>
              </c:pt>
              <c:pt idx="2">
                <c:v>63.636363636363633</c:v>
              </c:pt>
              <c:pt idx="3">
                <c:v>36.363636363636367</c:v>
              </c:pt>
              <c:pt idx="4">
                <c:v>54.545454545454547</c:v>
              </c:pt>
              <c:pt idx="5">
                <c:v>9.0909090909090917</c:v>
              </c:pt>
            </c:numLit>
          </c:yVal>
          <c:smooth val="0"/>
          <c:extLst>
            <c:ext xmlns:c16="http://schemas.microsoft.com/office/drawing/2014/chart" uri="{C3380CC4-5D6E-409C-BE32-E72D297353CC}">
              <c16:uniqueId val="{00000001-6F51-42CF-BAE5-2C000369B3B6}"/>
            </c:ext>
          </c:extLst>
        </c:ser>
        <c:dLbls>
          <c:showLegendKey val="0"/>
          <c:showVal val="0"/>
          <c:showCatName val="0"/>
          <c:showSerName val="0"/>
          <c:showPercent val="0"/>
          <c:showBubbleSize val="0"/>
        </c:dLbls>
        <c:axId val="1629121936"/>
        <c:axId val="1629122416"/>
      </c:scatterChart>
      <c:valAx>
        <c:axId val="1629121936"/>
        <c:scaling>
          <c:orientation val="minMax"/>
          <c:max val="0.45"/>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Precision proxy (cases detected / raw alerts)</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29122416"/>
        <c:crosses val="autoZero"/>
        <c:crossBetween val="midCat"/>
        <c:majorUnit val="0.1"/>
      </c:valAx>
      <c:valAx>
        <c:axId val="1629122416"/>
        <c:scaling>
          <c:orientation val="minMax"/>
          <c:max val="10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Recall (%)</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29121936"/>
        <c:crosses val="autoZero"/>
        <c:crossBetween val="midCat"/>
        <c:majorUnit val="2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v>Tools</c:v>
          </c:tx>
          <c:spPr>
            <a:ln w="25400" cap="rnd">
              <a:noFill/>
              <a:round/>
            </a:ln>
            <a:effectLst/>
          </c:spPr>
          <c:marker>
            <c:symbol val="circle"/>
            <c:size val="5"/>
            <c:spPr>
              <a:solidFill>
                <a:schemeClr val="accent1"/>
              </a:solidFill>
              <a:ln w="9525">
                <a:solidFill>
                  <a:schemeClr val="accent1"/>
                </a:solidFill>
              </a:ln>
              <a:effectLst/>
            </c:spPr>
          </c:marker>
          <c:dPt>
            <c:idx val="0"/>
            <c:marker>
              <c:symbol val="circle"/>
              <c:size val="11"/>
              <c:spPr>
                <a:solidFill>
                  <a:srgbClr val="16A34A"/>
                </a:solidFill>
                <a:ln w="9525">
                  <a:solidFill>
                    <a:schemeClr val="accent1"/>
                  </a:solidFill>
                </a:ln>
                <a:effectLst/>
              </c:spPr>
            </c:marker>
            <c:bubble3D val="0"/>
            <c:spPr>
              <a:ln w="25400" cap="rnd">
                <a:noFill/>
                <a:round/>
              </a:ln>
              <a:effectLst/>
            </c:spPr>
            <c:extLst>
              <c:ext xmlns:c16="http://schemas.microsoft.com/office/drawing/2014/chart" uri="{C3380CC4-5D6E-409C-BE32-E72D297353CC}">
                <c16:uniqueId val="{00000002-5761-4470-8A1A-63A7461883B9}"/>
              </c:ext>
            </c:extLst>
          </c:dPt>
          <c:dPt>
            <c:idx val="1"/>
            <c:marker>
              <c:symbol val="circle"/>
              <c:size val="8"/>
              <c:spPr>
                <a:solidFill>
                  <a:srgbClr val="2563EB"/>
                </a:solidFill>
                <a:ln w="9525">
                  <a:solidFill>
                    <a:schemeClr val="accent1"/>
                  </a:solidFill>
                </a:ln>
                <a:effectLst/>
              </c:spPr>
            </c:marker>
            <c:bubble3D val="0"/>
            <c:spPr>
              <a:ln w="25400" cap="rnd">
                <a:noFill/>
                <a:round/>
              </a:ln>
              <a:effectLst/>
            </c:spPr>
            <c:extLst>
              <c:ext xmlns:c16="http://schemas.microsoft.com/office/drawing/2014/chart" uri="{C3380CC4-5D6E-409C-BE32-E72D297353CC}">
                <c16:uniqueId val="{00000003-5761-4470-8A1A-63A7461883B9}"/>
              </c:ext>
            </c:extLst>
          </c:dPt>
          <c:dPt>
            <c:idx val="2"/>
            <c:marker>
              <c:symbol val="circle"/>
              <c:size val="8"/>
              <c:spPr>
                <a:solidFill>
                  <a:srgbClr val="F59E0B"/>
                </a:solidFill>
                <a:ln w="9525">
                  <a:solidFill>
                    <a:schemeClr val="accent1"/>
                  </a:solidFill>
                </a:ln>
                <a:effectLst/>
              </c:spPr>
            </c:marker>
            <c:bubble3D val="0"/>
            <c:spPr>
              <a:ln w="25400" cap="rnd">
                <a:noFill/>
                <a:round/>
              </a:ln>
              <a:effectLst/>
            </c:spPr>
            <c:extLst>
              <c:ext xmlns:c16="http://schemas.microsoft.com/office/drawing/2014/chart" uri="{C3380CC4-5D6E-409C-BE32-E72D297353CC}">
                <c16:uniqueId val="{00000004-5761-4470-8A1A-63A7461883B9}"/>
              </c:ext>
            </c:extLst>
          </c:dPt>
          <c:dPt>
            <c:idx val="3"/>
            <c:marker>
              <c:symbol val="circle"/>
              <c:size val="8"/>
              <c:spPr>
                <a:solidFill>
                  <a:srgbClr val="8B5CF6"/>
                </a:solidFill>
                <a:ln w="9525">
                  <a:solidFill>
                    <a:schemeClr val="accent1"/>
                  </a:solidFill>
                </a:ln>
                <a:effectLst/>
              </c:spPr>
            </c:marker>
            <c:bubble3D val="0"/>
            <c:spPr>
              <a:ln w="25400" cap="rnd">
                <a:noFill/>
                <a:round/>
              </a:ln>
              <a:effectLst/>
            </c:spPr>
            <c:extLst>
              <c:ext xmlns:c16="http://schemas.microsoft.com/office/drawing/2014/chart" uri="{C3380CC4-5D6E-409C-BE32-E72D297353CC}">
                <c16:uniqueId val="{00000005-5761-4470-8A1A-63A7461883B9}"/>
              </c:ext>
            </c:extLst>
          </c:dPt>
          <c:dPt>
            <c:idx val="4"/>
            <c:marker>
              <c:symbol val="circle"/>
              <c:size val="8"/>
              <c:spPr>
                <a:solidFill>
                  <a:srgbClr val="EF4444"/>
                </a:solidFill>
                <a:ln w="9525">
                  <a:solidFill>
                    <a:schemeClr val="accent1"/>
                  </a:solidFill>
                </a:ln>
                <a:effectLst/>
              </c:spPr>
            </c:marker>
            <c:bubble3D val="0"/>
            <c:spPr>
              <a:ln w="25400" cap="rnd">
                <a:noFill/>
                <a:round/>
              </a:ln>
              <a:effectLst/>
            </c:spPr>
            <c:extLst>
              <c:ext xmlns:c16="http://schemas.microsoft.com/office/drawing/2014/chart" uri="{C3380CC4-5D6E-409C-BE32-E72D297353CC}">
                <c16:uniqueId val="{00000006-5761-4470-8A1A-63A7461883B9}"/>
              </c:ext>
            </c:extLst>
          </c:dPt>
          <c:dPt>
            <c:idx val="5"/>
            <c:marker>
              <c:symbol val="circle"/>
              <c:size val="8"/>
              <c:spPr>
                <a:solidFill>
                  <a:srgbClr val="0EA5E9"/>
                </a:solidFill>
                <a:ln w="9525">
                  <a:solidFill>
                    <a:schemeClr val="accent1"/>
                  </a:solidFill>
                </a:ln>
                <a:effectLst/>
              </c:spPr>
            </c:marker>
            <c:bubble3D val="0"/>
            <c:spPr>
              <a:ln w="25400" cap="rnd">
                <a:noFill/>
                <a:round/>
              </a:ln>
              <a:effectLst/>
            </c:spPr>
            <c:extLst>
              <c:ext xmlns:c16="http://schemas.microsoft.com/office/drawing/2014/chart" uri="{C3380CC4-5D6E-409C-BE32-E72D297353CC}">
                <c16:uniqueId val="{00000007-5761-4470-8A1A-63A7461883B9}"/>
              </c:ext>
            </c:extLst>
          </c:dPt>
          <c:dLbls>
            <c:dLbl>
              <c:idx val="0"/>
              <c:tx>
                <c:rich>
                  <a:bodyPr/>
                  <a:lstStyle/>
                  <a:p>
                    <a:r>
                      <a:rPr lang="en-US"/>
                      <a:t>VibeScan</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5761-4470-8A1A-63A7461883B9}"/>
                </c:ext>
              </c:extLst>
            </c:dLbl>
            <c:dLbl>
              <c:idx val="1"/>
              <c:tx>
                <c:rich>
                  <a:bodyPr/>
                  <a:lstStyle/>
                  <a:p>
                    <a:r>
                      <a:rPr lang="en-US"/>
                      <a:t>Bearer</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5761-4470-8A1A-63A7461883B9}"/>
                </c:ext>
              </c:extLst>
            </c:dLbl>
            <c:dLbl>
              <c:idx val="2"/>
              <c:tx>
                <c:rich>
                  <a:bodyPr/>
                  <a:lstStyle/>
                  <a:p>
                    <a:r>
                      <a:rPr lang="en-US"/>
                      <a:t>Snyk Code</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5761-4470-8A1A-63A7461883B9}"/>
                </c:ext>
              </c:extLst>
            </c:dLbl>
            <c:dLbl>
              <c:idx val="3"/>
              <c:tx>
                <c:rich>
                  <a:bodyPr/>
                  <a:lstStyle/>
                  <a:p>
                    <a:r>
                      <a:rPr lang="en-US"/>
                      <a:t>Semgrep</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5761-4470-8A1A-63A7461883B9}"/>
                </c:ext>
              </c:extLst>
            </c:dLbl>
            <c:dLbl>
              <c:idx val="4"/>
              <c:tx>
                <c:rich>
                  <a:bodyPr/>
                  <a:lstStyle/>
                  <a:p>
                    <a:r>
                      <a:rPr lang="en-US"/>
                      <a:t>CodeQL</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5761-4470-8A1A-63A7461883B9}"/>
                </c:ext>
              </c:extLst>
            </c:dLbl>
            <c:dLbl>
              <c:idx val="5"/>
              <c:tx>
                <c:rich>
                  <a:bodyPr/>
                  <a:lstStyle/>
                  <a:p>
                    <a:r>
                      <a:rPr lang="en-US"/>
                      <a:t>eslint-plugin-security</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5761-4470-8A1A-63A7461883B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Lit>
              <c:formatCode>General</c:formatCode>
              <c:ptCount val="6"/>
              <c:pt idx="0">
                <c:v>0.80547000000000002</c:v>
              </c:pt>
              <c:pt idx="1">
                <c:v>10.848700000000001</c:v>
              </c:pt>
              <c:pt idx="2">
                <c:v>9.5982599999999998</c:v>
              </c:pt>
              <c:pt idx="3">
                <c:v>15.24014</c:v>
              </c:pt>
              <c:pt idx="4">
                <c:v>91.81644</c:v>
              </c:pt>
              <c:pt idx="5">
                <c:v>1.7045699999999999</c:v>
              </c:pt>
            </c:numLit>
          </c:xVal>
          <c:yVal>
            <c:numLit>
              <c:formatCode>General</c:formatCode>
              <c:ptCount val="6"/>
              <c:pt idx="0">
                <c:v>100</c:v>
              </c:pt>
              <c:pt idx="1">
                <c:v>72.727272727272734</c:v>
              </c:pt>
              <c:pt idx="2">
                <c:v>63.636363636363633</c:v>
              </c:pt>
              <c:pt idx="3">
                <c:v>36.363636363636367</c:v>
              </c:pt>
              <c:pt idx="4">
                <c:v>54.545454545454547</c:v>
              </c:pt>
              <c:pt idx="5">
                <c:v>9.0909090909090917</c:v>
              </c:pt>
            </c:numLit>
          </c:yVal>
          <c:smooth val="0"/>
          <c:extLst>
            <c:ext xmlns:c16="http://schemas.microsoft.com/office/drawing/2014/chart" uri="{C3380CC4-5D6E-409C-BE32-E72D297353CC}">
              <c16:uniqueId val="{00000001-5761-4470-8A1A-63A7461883B9}"/>
            </c:ext>
          </c:extLst>
        </c:ser>
        <c:dLbls>
          <c:showLegendKey val="0"/>
          <c:showVal val="0"/>
          <c:showCatName val="0"/>
          <c:showSerName val="0"/>
          <c:showPercent val="0"/>
          <c:showBubbleSize val="0"/>
        </c:dLbls>
        <c:axId val="1629144976"/>
        <c:axId val="1629150256"/>
      </c:scatterChart>
      <c:valAx>
        <c:axId val="1629144976"/>
        <c:scaling>
          <c:logBase val="10"/>
          <c:orientation val="minMax"/>
          <c:max val="100"/>
          <c:min val="0.5"/>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Runtime (seconds, log scale)</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29150256"/>
        <c:crosses val="autoZero"/>
        <c:crossBetween val="midCat"/>
      </c:valAx>
      <c:valAx>
        <c:axId val="1629150256"/>
        <c:scaling>
          <c:orientation val="minMax"/>
          <c:max val="10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DVNA recall (%)</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29144976"/>
        <c:crosses val="autoZero"/>
        <c:crossBetween val="midCat"/>
        <c:majorUnit val="2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208262-69EC-443B-8F55-BB848301ABE2}" type="datetimeFigureOut">
              <a:rPr lang="en-US" smtClean="0"/>
              <a:t>4/7/2026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A6766D-65BF-4F36-95B6-FAD6E01BC3CB}" type="slidenum">
              <a:rPr lang="en-US" smtClean="0"/>
              <a:t>‹#›</a:t>
            </a:fld>
            <a:endParaRPr lang="en-US"/>
          </a:p>
        </p:txBody>
      </p:sp>
    </p:spTree>
    <p:extLst>
      <p:ext uri="{BB962C8B-B14F-4D97-AF65-F5344CB8AC3E}">
        <p14:creationId xmlns:p14="http://schemas.microsoft.com/office/powerpoint/2010/main" val="3861017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built this depth comparison by mapping each tool to the deepest analysis stage it consistently reached in our DVNA benchmark workflow, from simple pattern checks to proof-backed CI gating.
Tell this as the opening story: most tools stop in the middle of the pipeline, which limits what they can verify in hard multi-context cases. VibeScan reaches stage 5, so it can carry findings into proof generation and regression gates.
What this chart shows is not just rank, but capability progression: each bar is a stage boundary where practical detection power either continues or stops.</a:t>
            </a:r>
          </a:p>
        </p:txBody>
      </p:sp>
      <p:sp>
        <p:nvSpPr>
          <p:cNvPr id="4" name="Slide Number Placeholder 3"/>
          <p:cNvSpPr>
            <a:spLocks noGrp="1"/>
          </p:cNvSpPr>
          <p:nvPr>
            <p:ph type="sldNum" sz="quarter" idx="5"/>
          </p:nvPr>
        </p:nvSpPr>
        <p:spPr/>
        <p:txBody>
          <a:bodyPr/>
          <a:lstStyle/>
          <a:p>
            <a:fld id="{E0A6766D-65BF-4F36-95B6-FAD6E01BC3CB}" type="slidenum">
              <a:rPr lang="en-US" smtClean="0"/>
              <a:t>1</a:t>
            </a:fld>
            <a:endParaRPr lang="en-US"/>
          </a:p>
        </p:txBody>
      </p:sp>
    </p:spTree>
    <p:extLst>
      <p:ext uri="{BB962C8B-B14F-4D97-AF65-F5344CB8AC3E}">
        <p14:creationId xmlns:p14="http://schemas.microsoft.com/office/powerpoint/2010/main" val="3523801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each tool, we paired two measured values from the benchmark artifacts: raw DVNA issue count and anchored recall on the 11 adjudicated DVNA cases.
Narrative: the common assumption is that more alerts means better security coverage. This chart tells the opposite story. Alert volume and recall move loosely and often in different directions.
Use the Pearson value to reinforce that point: high volume does not guarantee high benchmark recall.</a:t>
            </a:r>
          </a:p>
        </p:txBody>
      </p:sp>
      <p:sp>
        <p:nvSpPr>
          <p:cNvPr id="4" name="Slide Number Placeholder 3"/>
          <p:cNvSpPr>
            <a:spLocks noGrp="1"/>
          </p:cNvSpPr>
          <p:nvPr>
            <p:ph type="sldNum" sz="quarter" idx="5"/>
          </p:nvPr>
        </p:nvSpPr>
        <p:spPr/>
        <p:txBody>
          <a:bodyPr/>
          <a:lstStyle/>
          <a:p>
            <a:fld id="{E0A6766D-65BF-4F36-95B6-FAD6E01BC3CB}" type="slidenum">
              <a:rPr lang="en-US" smtClean="0"/>
              <a:t>2</a:t>
            </a:fld>
            <a:endParaRPr lang="en-US"/>
          </a:p>
        </p:txBody>
      </p:sp>
    </p:spTree>
    <p:extLst>
      <p:ext uri="{BB962C8B-B14F-4D97-AF65-F5344CB8AC3E}">
        <p14:creationId xmlns:p14="http://schemas.microsoft.com/office/powerpoint/2010/main" val="340217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computed this metric directly from the same benchmark data: signal-to-noise equals detected cases divided by raw alerts for each tool.
Story framing: after we separate recall from alert volume, we can ask a practical triage question, how much benchmark value do we get per finding engineers must inspect.
This chart shows VibeScan delivering the strongest value density in this run, followed by peers with progressively lower efficiency.</a:t>
            </a:r>
          </a:p>
        </p:txBody>
      </p:sp>
      <p:sp>
        <p:nvSpPr>
          <p:cNvPr id="4" name="Slide Number Placeholder 3"/>
          <p:cNvSpPr>
            <a:spLocks noGrp="1"/>
          </p:cNvSpPr>
          <p:nvPr>
            <p:ph type="sldNum" sz="quarter" idx="5"/>
          </p:nvPr>
        </p:nvSpPr>
        <p:spPr/>
        <p:txBody>
          <a:bodyPr/>
          <a:lstStyle/>
          <a:p>
            <a:fld id="{E0A6766D-65BF-4F36-95B6-FAD6E01BC3CB}" type="slidenum">
              <a:rPr lang="en-US" smtClean="0"/>
              <a:t>3</a:t>
            </a:fld>
            <a:endParaRPr lang="en-US"/>
          </a:p>
        </p:txBody>
      </p:sp>
    </p:spTree>
    <p:extLst>
      <p:ext uri="{BB962C8B-B14F-4D97-AF65-F5344CB8AC3E}">
        <p14:creationId xmlns:p14="http://schemas.microsoft.com/office/powerpoint/2010/main" val="15477475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generate this view, we grouped the 11 DVNA cases into security families using the case catalog, then computed per-family recall for each tool from the detection matrix.
Tell this part as diagnostic evidence: overall recall alone hides where misses cluster. Family-level recall exposes exactly which vulnerability themes are driving the gap.
The story here is that VibeScan stays consistently high across families, while peer performance is more uneven and drops in specific categories.</a:t>
            </a:r>
          </a:p>
        </p:txBody>
      </p:sp>
      <p:sp>
        <p:nvSpPr>
          <p:cNvPr id="4" name="Slide Number Placeholder 3"/>
          <p:cNvSpPr>
            <a:spLocks noGrp="1"/>
          </p:cNvSpPr>
          <p:nvPr>
            <p:ph type="sldNum" sz="quarter" idx="5"/>
          </p:nvPr>
        </p:nvSpPr>
        <p:spPr/>
        <p:txBody>
          <a:bodyPr/>
          <a:lstStyle/>
          <a:p>
            <a:fld id="{E0A6766D-65BF-4F36-95B6-FAD6E01BC3CB}" type="slidenum">
              <a:rPr lang="en-US" smtClean="0"/>
              <a:t>4</a:t>
            </a:fld>
            <a:endParaRPr lang="en-US"/>
          </a:p>
        </p:txBody>
      </p:sp>
    </p:spTree>
    <p:extLst>
      <p:ext uri="{BB962C8B-B14F-4D97-AF65-F5344CB8AC3E}">
        <p14:creationId xmlns:p14="http://schemas.microsoft.com/office/powerpoint/2010/main" val="2324600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case-level ground truth view built from results/dvna-detection-matrix.json aligned to the anchored rows in results/dvna-case-catalog.json.
Presentation story: each row is one benchmark case, each column is one tool, and each colored cell is the adjudicated hit/miss outcome. This is where the recall numbers become concrete.
Use this slide to walk the audience from aggregate metrics into exact case behavior, so the coverage narrative is evidence-backed rather than abstract.</a:t>
            </a:r>
          </a:p>
        </p:txBody>
      </p:sp>
      <p:sp>
        <p:nvSpPr>
          <p:cNvPr id="4" name="Slide Number Placeholder 3"/>
          <p:cNvSpPr>
            <a:spLocks noGrp="1"/>
          </p:cNvSpPr>
          <p:nvPr>
            <p:ph type="sldNum" sz="quarter" idx="5"/>
          </p:nvPr>
        </p:nvSpPr>
        <p:spPr/>
        <p:txBody>
          <a:bodyPr/>
          <a:lstStyle/>
          <a:p>
            <a:fld id="{E0A6766D-65BF-4F36-95B6-FAD6E01BC3CB}" type="slidenum">
              <a:rPr lang="en-US" smtClean="0"/>
              <a:t>5</a:t>
            </a:fld>
            <a:endParaRPr lang="en-US"/>
          </a:p>
        </p:txBody>
      </p:sp>
    </p:spTree>
    <p:extLst>
      <p:ext uri="{BB962C8B-B14F-4D97-AF65-F5344CB8AC3E}">
        <p14:creationId xmlns:p14="http://schemas.microsoft.com/office/powerpoint/2010/main" val="16339539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derive difficulty from tool-consensus p (hits/6) and convert to ETS delta using delta = 13 - 4z.
Story point: this converts raw hit/miss cells into a standardized difficulty lens. Higher delta means lower consensus and harder cases where meaningful scanner differences appear.
Use this slide to explain why equal totals can still hide important risk: missing hard cases hurts benchmark value disproportionately.</a:t>
            </a:r>
          </a:p>
        </p:txBody>
      </p:sp>
      <p:sp>
        <p:nvSpPr>
          <p:cNvPr id="4" name="Slide Number Placeholder 3"/>
          <p:cNvSpPr>
            <a:spLocks noGrp="1"/>
          </p:cNvSpPr>
          <p:nvPr>
            <p:ph type="sldNum" sz="quarter" idx="5"/>
          </p:nvPr>
        </p:nvSpPr>
        <p:spPr/>
        <p:txBody>
          <a:bodyPr/>
          <a:lstStyle/>
          <a:p>
            <a:fld id="{E0A6766D-65BF-4F36-95B6-FAD6E01BC3CB}" type="slidenum">
              <a:rPr lang="en-US" smtClean="0"/>
              <a:t>6</a:t>
            </a:fld>
            <a:endParaRPr lang="en-US"/>
          </a:p>
        </p:txBody>
      </p:sp>
    </p:spTree>
    <p:extLst>
      <p:ext uri="{BB962C8B-B14F-4D97-AF65-F5344CB8AC3E}">
        <p14:creationId xmlns:p14="http://schemas.microsoft.com/office/powerpoint/2010/main" val="397153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chart is the direct roll-up of case-level detections: total benchmark hits out of 11 cases per tool.
Tell this as the simple scoreboard after the deeper diagnostics. The audience can quickly see final coverage separation before moving to tradeoff views.
The key story transition is that VibeScan leads total coverage, and the prior slides explained why that lead is structurally credible.</a:t>
            </a:r>
          </a:p>
        </p:txBody>
      </p:sp>
      <p:sp>
        <p:nvSpPr>
          <p:cNvPr id="4" name="Slide Number Placeholder 3"/>
          <p:cNvSpPr>
            <a:spLocks noGrp="1"/>
          </p:cNvSpPr>
          <p:nvPr>
            <p:ph type="sldNum" sz="quarter" idx="5"/>
          </p:nvPr>
        </p:nvSpPr>
        <p:spPr/>
        <p:txBody>
          <a:bodyPr/>
          <a:lstStyle/>
          <a:p>
            <a:fld id="{E0A6766D-65BF-4F36-95B6-FAD6E01BC3CB}" type="slidenum">
              <a:rPr lang="en-US" smtClean="0"/>
              <a:t>7</a:t>
            </a:fld>
            <a:endParaRPr lang="en-US"/>
          </a:p>
        </p:txBody>
      </p:sp>
    </p:spTree>
    <p:extLst>
      <p:ext uri="{BB962C8B-B14F-4D97-AF65-F5344CB8AC3E}">
        <p14:creationId xmlns:p14="http://schemas.microsoft.com/office/powerpoint/2010/main" val="28341605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chart combines two practical axes from the same run data: recall on the y-axis and cases-per-alert proxy on the x-axis.
Narrative: we are no longer asking only who finds more, but who finds more with less triage burden. That is closer to operational reality for teams.
Use this slide to show that VibeScan sits in the favorable region, pairing high coverage with stronger signal density.</a:t>
            </a:r>
          </a:p>
        </p:txBody>
      </p:sp>
      <p:sp>
        <p:nvSpPr>
          <p:cNvPr id="4" name="Slide Number Placeholder 3"/>
          <p:cNvSpPr>
            <a:spLocks noGrp="1"/>
          </p:cNvSpPr>
          <p:nvPr>
            <p:ph type="sldNum" sz="quarter" idx="5"/>
          </p:nvPr>
        </p:nvSpPr>
        <p:spPr/>
        <p:txBody>
          <a:bodyPr/>
          <a:lstStyle/>
          <a:p>
            <a:fld id="{E0A6766D-65BF-4F36-95B6-FAD6E01BC3CB}" type="slidenum">
              <a:rPr lang="en-US" smtClean="0"/>
              <a:t>8</a:t>
            </a:fld>
            <a:endParaRPr lang="en-US"/>
          </a:p>
        </p:txBody>
      </p:sp>
    </p:spTree>
    <p:extLst>
      <p:ext uri="{BB962C8B-B14F-4D97-AF65-F5344CB8AC3E}">
        <p14:creationId xmlns:p14="http://schemas.microsoft.com/office/powerpoint/2010/main" val="34979562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Runtime values come from rerun wall-clock measurements in results/dvna-tool-timings.json, paired with the same recall values used in earlier charts.
Story close: this is the cost-versus-coverage view. The log x-axis keeps both fast and slow tools visible, including long-tail outliers.
Present this as the final practical takeaway: benchmark strength is most compelling when strong recall also fits CI-friendly execution time.</a:t>
            </a:r>
          </a:p>
        </p:txBody>
      </p:sp>
      <p:sp>
        <p:nvSpPr>
          <p:cNvPr id="4" name="Slide Number Placeholder 3"/>
          <p:cNvSpPr>
            <a:spLocks noGrp="1"/>
          </p:cNvSpPr>
          <p:nvPr>
            <p:ph type="sldNum" sz="quarter" idx="5"/>
          </p:nvPr>
        </p:nvSpPr>
        <p:spPr/>
        <p:txBody>
          <a:bodyPr/>
          <a:lstStyle/>
          <a:p>
            <a:fld id="{E0A6766D-65BF-4F36-95B6-FAD6E01BC3CB}" type="slidenum">
              <a:rPr lang="en-US" smtClean="0"/>
              <a:t>9</a:t>
            </a:fld>
            <a:endParaRPr lang="en-US"/>
          </a:p>
        </p:txBody>
      </p:sp>
    </p:spTree>
    <p:extLst>
      <p:ext uri="{BB962C8B-B14F-4D97-AF65-F5344CB8AC3E}">
        <p14:creationId xmlns:p14="http://schemas.microsoft.com/office/powerpoint/2010/main" val="1510486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F2AE7-62C3-B2D0-92EA-76806C7FC4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08FE94-F474-0163-5ED2-864D7560F8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2A989F7-7D20-4A30-2D3E-2BF65C320920}"/>
              </a:ext>
            </a:extLst>
          </p:cNvPr>
          <p:cNvSpPr>
            <a:spLocks noGrp="1"/>
          </p:cNvSpPr>
          <p:nvPr>
            <p:ph type="dt" sz="half" idx="10"/>
          </p:nvPr>
        </p:nvSpPr>
        <p:spPr/>
        <p:txBody>
          <a:bodyPr/>
          <a:lstStyle/>
          <a:p>
            <a:fld id="{412EFBD9-D7F1-473B-8543-38D4F1C2CB49}" type="datetimeFigureOut">
              <a:rPr lang="en-US" smtClean="0"/>
              <a:t>4/7/2026</a:t>
            </a:fld>
            <a:endParaRPr lang="en-US"/>
          </a:p>
        </p:txBody>
      </p:sp>
      <p:sp>
        <p:nvSpPr>
          <p:cNvPr id="5" name="Footer Placeholder 4">
            <a:extLst>
              <a:ext uri="{FF2B5EF4-FFF2-40B4-BE49-F238E27FC236}">
                <a16:creationId xmlns:a16="http://schemas.microsoft.com/office/drawing/2014/main" id="{8BF3155E-86D5-9D0C-6453-81B8033240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777F4C-06D0-2F9F-2C33-AEA3BAE17EDB}"/>
              </a:ext>
            </a:extLst>
          </p:cNvPr>
          <p:cNvSpPr>
            <a:spLocks noGrp="1"/>
          </p:cNvSpPr>
          <p:nvPr>
            <p:ph type="sldNum" sz="quarter" idx="12"/>
          </p:nvPr>
        </p:nvSpPr>
        <p:spPr/>
        <p:txBody>
          <a:bodyPr/>
          <a:lstStyle/>
          <a:p>
            <a:fld id="{E100DE46-063E-4777-A457-5F820268A7E7}" type="slidenum">
              <a:rPr lang="en-US" smtClean="0"/>
              <a:t>‹#›</a:t>
            </a:fld>
            <a:endParaRPr lang="en-US"/>
          </a:p>
        </p:txBody>
      </p:sp>
    </p:spTree>
    <p:extLst>
      <p:ext uri="{BB962C8B-B14F-4D97-AF65-F5344CB8AC3E}">
        <p14:creationId xmlns:p14="http://schemas.microsoft.com/office/powerpoint/2010/main" val="2434394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A17F8-55B0-A7A6-FC49-EDB3ADE084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E5221B-3CFA-0E5F-A1EB-466135DAFD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41D688-D699-2B9D-0F2F-A91C728AB77F}"/>
              </a:ext>
            </a:extLst>
          </p:cNvPr>
          <p:cNvSpPr>
            <a:spLocks noGrp="1"/>
          </p:cNvSpPr>
          <p:nvPr>
            <p:ph type="dt" sz="half" idx="10"/>
          </p:nvPr>
        </p:nvSpPr>
        <p:spPr/>
        <p:txBody>
          <a:bodyPr/>
          <a:lstStyle/>
          <a:p>
            <a:fld id="{412EFBD9-D7F1-473B-8543-38D4F1C2CB49}" type="datetimeFigureOut">
              <a:rPr lang="en-US" smtClean="0"/>
              <a:t>4/7/2026</a:t>
            </a:fld>
            <a:endParaRPr lang="en-US"/>
          </a:p>
        </p:txBody>
      </p:sp>
      <p:sp>
        <p:nvSpPr>
          <p:cNvPr id="5" name="Footer Placeholder 4">
            <a:extLst>
              <a:ext uri="{FF2B5EF4-FFF2-40B4-BE49-F238E27FC236}">
                <a16:creationId xmlns:a16="http://schemas.microsoft.com/office/drawing/2014/main" id="{FC4351A5-65DB-C378-9990-20F77362A4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803B1C-C85A-CC54-3D91-D4B0F7C155F6}"/>
              </a:ext>
            </a:extLst>
          </p:cNvPr>
          <p:cNvSpPr>
            <a:spLocks noGrp="1"/>
          </p:cNvSpPr>
          <p:nvPr>
            <p:ph type="sldNum" sz="quarter" idx="12"/>
          </p:nvPr>
        </p:nvSpPr>
        <p:spPr/>
        <p:txBody>
          <a:bodyPr/>
          <a:lstStyle/>
          <a:p>
            <a:fld id="{E100DE46-063E-4777-A457-5F820268A7E7}" type="slidenum">
              <a:rPr lang="en-US" smtClean="0"/>
              <a:t>‹#›</a:t>
            </a:fld>
            <a:endParaRPr lang="en-US"/>
          </a:p>
        </p:txBody>
      </p:sp>
    </p:spTree>
    <p:extLst>
      <p:ext uri="{BB962C8B-B14F-4D97-AF65-F5344CB8AC3E}">
        <p14:creationId xmlns:p14="http://schemas.microsoft.com/office/powerpoint/2010/main" val="3198341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C8C79-E86A-9B5C-078E-0154DDE5DD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96D74D-D339-3C52-8288-EBCBC9B609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590555-1720-3E7E-7DA7-820D3310AE59}"/>
              </a:ext>
            </a:extLst>
          </p:cNvPr>
          <p:cNvSpPr>
            <a:spLocks noGrp="1"/>
          </p:cNvSpPr>
          <p:nvPr>
            <p:ph type="dt" sz="half" idx="10"/>
          </p:nvPr>
        </p:nvSpPr>
        <p:spPr/>
        <p:txBody>
          <a:bodyPr/>
          <a:lstStyle/>
          <a:p>
            <a:fld id="{412EFBD9-D7F1-473B-8543-38D4F1C2CB49}" type="datetimeFigureOut">
              <a:rPr lang="en-US" smtClean="0"/>
              <a:t>4/7/2026</a:t>
            </a:fld>
            <a:endParaRPr lang="en-US"/>
          </a:p>
        </p:txBody>
      </p:sp>
      <p:sp>
        <p:nvSpPr>
          <p:cNvPr id="5" name="Footer Placeholder 4">
            <a:extLst>
              <a:ext uri="{FF2B5EF4-FFF2-40B4-BE49-F238E27FC236}">
                <a16:creationId xmlns:a16="http://schemas.microsoft.com/office/drawing/2014/main" id="{6E1F5BE1-D6A9-4A92-62B0-EC99CF0F5A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3B3406-4EE9-A7E4-F2FE-8F3F1D9983D7}"/>
              </a:ext>
            </a:extLst>
          </p:cNvPr>
          <p:cNvSpPr>
            <a:spLocks noGrp="1"/>
          </p:cNvSpPr>
          <p:nvPr>
            <p:ph type="sldNum" sz="quarter" idx="12"/>
          </p:nvPr>
        </p:nvSpPr>
        <p:spPr/>
        <p:txBody>
          <a:bodyPr/>
          <a:lstStyle/>
          <a:p>
            <a:fld id="{E100DE46-063E-4777-A457-5F820268A7E7}" type="slidenum">
              <a:rPr lang="en-US" smtClean="0"/>
              <a:t>‹#›</a:t>
            </a:fld>
            <a:endParaRPr lang="en-US"/>
          </a:p>
        </p:txBody>
      </p:sp>
    </p:spTree>
    <p:extLst>
      <p:ext uri="{BB962C8B-B14F-4D97-AF65-F5344CB8AC3E}">
        <p14:creationId xmlns:p14="http://schemas.microsoft.com/office/powerpoint/2010/main" val="4102812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F7DAB-B460-F626-113C-A718CC856C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86C93F-373A-3303-C956-51189C9629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98EE6E-A19A-BAB3-8FF9-341FDAC7F8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7CDAFD-35A8-3852-5907-135F1E130A57}"/>
              </a:ext>
            </a:extLst>
          </p:cNvPr>
          <p:cNvSpPr>
            <a:spLocks noGrp="1"/>
          </p:cNvSpPr>
          <p:nvPr>
            <p:ph type="dt" sz="half" idx="10"/>
          </p:nvPr>
        </p:nvSpPr>
        <p:spPr/>
        <p:txBody>
          <a:bodyPr/>
          <a:lstStyle/>
          <a:p>
            <a:fld id="{412EFBD9-D7F1-473B-8543-38D4F1C2CB49}" type="datetimeFigureOut">
              <a:rPr lang="en-US" smtClean="0"/>
              <a:t>4/7/2026</a:t>
            </a:fld>
            <a:endParaRPr lang="en-US"/>
          </a:p>
        </p:txBody>
      </p:sp>
      <p:sp>
        <p:nvSpPr>
          <p:cNvPr id="6" name="Footer Placeholder 5">
            <a:extLst>
              <a:ext uri="{FF2B5EF4-FFF2-40B4-BE49-F238E27FC236}">
                <a16:creationId xmlns:a16="http://schemas.microsoft.com/office/drawing/2014/main" id="{4FFF72ED-D3E4-7907-3A11-36304FC066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D851E1-4F1C-CBD5-8FC2-DD80AC5499E2}"/>
              </a:ext>
            </a:extLst>
          </p:cNvPr>
          <p:cNvSpPr>
            <a:spLocks noGrp="1"/>
          </p:cNvSpPr>
          <p:nvPr>
            <p:ph type="sldNum" sz="quarter" idx="12"/>
          </p:nvPr>
        </p:nvSpPr>
        <p:spPr/>
        <p:txBody>
          <a:bodyPr/>
          <a:lstStyle/>
          <a:p>
            <a:fld id="{E100DE46-063E-4777-A457-5F820268A7E7}" type="slidenum">
              <a:rPr lang="en-US" smtClean="0"/>
              <a:t>‹#›</a:t>
            </a:fld>
            <a:endParaRPr lang="en-US"/>
          </a:p>
        </p:txBody>
      </p:sp>
    </p:spTree>
    <p:extLst>
      <p:ext uri="{BB962C8B-B14F-4D97-AF65-F5344CB8AC3E}">
        <p14:creationId xmlns:p14="http://schemas.microsoft.com/office/powerpoint/2010/main" val="1952398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D580D-4676-1EFD-CD42-4640C15E3D9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29A9468-1608-1B8C-455E-74BE34885C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45ACD4-23F2-065E-E02C-7E9AB891C3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DBB508-881A-381F-8F47-65C1639330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E9AD94-6469-BA28-3B23-353B38CBFC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B26C63-3550-4A33-A6F2-BAF0A0DFB07B}"/>
              </a:ext>
            </a:extLst>
          </p:cNvPr>
          <p:cNvSpPr>
            <a:spLocks noGrp="1"/>
          </p:cNvSpPr>
          <p:nvPr>
            <p:ph type="dt" sz="half" idx="10"/>
          </p:nvPr>
        </p:nvSpPr>
        <p:spPr/>
        <p:txBody>
          <a:bodyPr/>
          <a:lstStyle/>
          <a:p>
            <a:fld id="{412EFBD9-D7F1-473B-8543-38D4F1C2CB49}" type="datetimeFigureOut">
              <a:rPr lang="en-US" smtClean="0"/>
              <a:t>4/7/2026</a:t>
            </a:fld>
            <a:endParaRPr lang="en-US"/>
          </a:p>
        </p:txBody>
      </p:sp>
      <p:sp>
        <p:nvSpPr>
          <p:cNvPr id="8" name="Footer Placeholder 7">
            <a:extLst>
              <a:ext uri="{FF2B5EF4-FFF2-40B4-BE49-F238E27FC236}">
                <a16:creationId xmlns:a16="http://schemas.microsoft.com/office/drawing/2014/main" id="{88CA9DD8-6D80-DB89-8989-40BEA90A74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E58E2AB-1C43-51F2-A60F-44FD86990D70}"/>
              </a:ext>
            </a:extLst>
          </p:cNvPr>
          <p:cNvSpPr>
            <a:spLocks noGrp="1"/>
          </p:cNvSpPr>
          <p:nvPr>
            <p:ph type="sldNum" sz="quarter" idx="12"/>
          </p:nvPr>
        </p:nvSpPr>
        <p:spPr/>
        <p:txBody>
          <a:bodyPr/>
          <a:lstStyle/>
          <a:p>
            <a:fld id="{E100DE46-063E-4777-A457-5F820268A7E7}" type="slidenum">
              <a:rPr lang="en-US" smtClean="0"/>
              <a:t>‹#›</a:t>
            </a:fld>
            <a:endParaRPr lang="en-US"/>
          </a:p>
        </p:txBody>
      </p:sp>
    </p:spTree>
    <p:extLst>
      <p:ext uri="{BB962C8B-B14F-4D97-AF65-F5344CB8AC3E}">
        <p14:creationId xmlns:p14="http://schemas.microsoft.com/office/powerpoint/2010/main" val="3309281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168BB-0B5E-923D-5C60-5D9B2313CFF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99F67A0-FFAC-BF10-F867-6F8D1A83859D}"/>
              </a:ext>
            </a:extLst>
          </p:cNvPr>
          <p:cNvSpPr>
            <a:spLocks noGrp="1"/>
          </p:cNvSpPr>
          <p:nvPr>
            <p:ph type="dt" sz="half" idx="10"/>
          </p:nvPr>
        </p:nvSpPr>
        <p:spPr/>
        <p:txBody>
          <a:bodyPr/>
          <a:lstStyle/>
          <a:p>
            <a:fld id="{412EFBD9-D7F1-473B-8543-38D4F1C2CB49}" type="datetimeFigureOut">
              <a:rPr lang="en-US" smtClean="0"/>
              <a:t>4/7/2026</a:t>
            </a:fld>
            <a:endParaRPr lang="en-US"/>
          </a:p>
        </p:txBody>
      </p:sp>
      <p:sp>
        <p:nvSpPr>
          <p:cNvPr id="4" name="Footer Placeholder 3">
            <a:extLst>
              <a:ext uri="{FF2B5EF4-FFF2-40B4-BE49-F238E27FC236}">
                <a16:creationId xmlns:a16="http://schemas.microsoft.com/office/drawing/2014/main" id="{B0D53DB0-480C-A7C6-FD87-455C9E2FEC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6EE4CB-B2CE-E243-370E-0D286AD3A0A2}"/>
              </a:ext>
            </a:extLst>
          </p:cNvPr>
          <p:cNvSpPr>
            <a:spLocks noGrp="1"/>
          </p:cNvSpPr>
          <p:nvPr>
            <p:ph type="sldNum" sz="quarter" idx="12"/>
          </p:nvPr>
        </p:nvSpPr>
        <p:spPr/>
        <p:txBody>
          <a:bodyPr/>
          <a:lstStyle/>
          <a:p>
            <a:fld id="{E100DE46-063E-4777-A457-5F820268A7E7}" type="slidenum">
              <a:rPr lang="en-US" smtClean="0"/>
              <a:t>‹#›</a:t>
            </a:fld>
            <a:endParaRPr lang="en-US"/>
          </a:p>
        </p:txBody>
      </p:sp>
    </p:spTree>
    <p:extLst>
      <p:ext uri="{BB962C8B-B14F-4D97-AF65-F5344CB8AC3E}">
        <p14:creationId xmlns:p14="http://schemas.microsoft.com/office/powerpoint/2010/main" val="3840125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95C50D-AF4F-7306-6204-70A27E92E59E}"/>
              </a:ext>
            </a:extLst>
          </p:cNvPr>
          <p:cNvSpPr>
            <a:spLocks noGrp="1"/>
          </p:cNvSpPr>
          <p:nvPr>
            <p:ph type="dt" sz="half" idx="10"/>
          </p:nvPr>
        </p:nvSpPr>
        <p:spPr/>
        <p:txBody>
          <a:bodyPr/>
          <a:lstStyle/>
          <a:p>
            <a:fld id="{412EFBD9-D7F1-473B-8543-38D4F1C2CB49}" type="datetimeFigureOut">
              <a:rPr lang="en-US" smtClean="0"/>
              <a:t>4/7/2026</a:t>
            </a:fld>
            <a:endParaRPr lang="en-US"/>
          </a:p>
        </p:txBody>
      </p:sp>
      <p:sp>
        <p:nvSpPr>
          <p:cNvPr id="3" name="Footer Placeholder 2">
            <a:extLst>
              <a:ext uri="{FF2B5EF4-FFF2-40B4-BE49-F238E27FC236}">
                <a16:creationId xmlns:a16="http://schemas.microsoft.com/office/drawing/2014/main" id="{4B2CA911-DDB8-8BAD-A6DB-D88A57BB455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A134DBF-0D6A-E091-A4EE-E37853AD3DD5}"/>
              </a:ext>
            </a:extLst>
          </p:cNvPr>
          <p:cNvSpPr>
            <a:spLocks noGrp="1"/>
          </p:cNvSpPr>
          <p:nvPr>
            <p:ph type="sldNum" sz="quarter" idx="12"/>
          </p:nvPr>
        </p:nvSpPr>
        <p:spPr/>
        <p:txBody>
          <a:bodyPr/>
          <a:lstStyle/>
          <a:p>
            <a:fld id="{E100DE46-063E-4777-A457-5F820268A7E7}" type="slidenum">
              <a:rPr lang="en-US" smtClean="0"/>
              <a:t>‹#›</a:t>
            </a:fld>
            <a:endParaRPr lang="en-US"/>
          </a:p>
        </p:txBody>
      </p:sp>
    </p:spTree>
    <p:extLst>
      <p:ext uri="{BB962C8B-B14F-4D97-AF65-F5344CB8AC3E}">
        <p14:creationId xmlns:p14="http://schemas.microsoft.com/office/powerpoint/2010/main" val="2206780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1318A-728C-2FD7-D34C-EDB675F296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5A577A-9A4D-3E90-2BDE-EDD9955171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18146F-DD9C-3D96-2BFC-6B9DF4851A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EA6B06-515F-2EB5-849A-CE5CE8B3E7D4}"/>
              </a:ext>
            </a:extLst>
          </p:cNvPr>
          <p:cNvSpPr>
            <a:spLocks noGrp="1"/>
          </p:cNvSpPr>
          <p:nvPr>
            <p:ph type="dt" sz="half" idx="10"/>
          </p:nvPr>
        </p:nvSpPr>
        <p:spPr/>
        <p:txBody>
          <a:bodyPr/>
          <a:lstStyle/>
          <a:p>
            <a:fld id="{412EFBD9-D7F1-473B-8543-38D4F1C2CB49}" type="datetimeFigureOut">
              <a:rPr lang="en-US" smtClean="0"/>
              <a:t>4/7/2026</a:t>
            </a:fld>
            <a:endParaRPr lang="en-US"/>
          </a:p>
        </p:txBody>
      </p:sp>
      <p:sp>
        <p:nvSpPr>
          <p:cNvPr id="6" name="Footer Placeholder 5">
            <a:extLst>
              <a:ext uri="{FF2B5EF4-FFF2-40B4-BE49-F238E27FC236}">
                <a16:creationId xmlns:a16="http://schemas.microsoft.com/office/drawing/2014/main" id="{5F328150-E791-FD01-C8FF-173B8ED998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02E879-937C-E57D-1806-5F2E69F97C90}"/>
              </a:ext>
            </a:extLst>
          </p:cNvPr>
          <p:cNvSpPr>
            <a:spLocks noGrp="1"/>
          </p:cNvSpPr>
          <p:nvPr>
            <p:ph type="sldNum" sz="quarter" idx="12"/>
          </p:nvPr>
        </p:nvSpPr>
        <p:spPr/>
        <p:txBody>
          <a:bodyPr/>
          <a:lstStyle/>
          <a:p>
            <a:fld id="{E100DE46-063E-4777-A457-5F820268A7E7}" type="slidenum">
              <a:rPr lang="en-US" smtClean="0"/>
              <a:t>‹#›</a:t>
            </a:fld>
            <a:endParaRPr lang="en-US"/>
          </a:p>
        </p:txBody>
      </p:sp>
    </p:spTree>
    <p:extLst>
      <p:ext uri="{BB962C8B-B14F-4D97-AF65-F5344CB8AC3E}">
        <p14:creationId xmlns:p14="http://schemas.microsoft.com/office/powerpoint/2010/main" val="3836841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8EDA9-5CCF-9CFD-CE00-65C7718753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7121F7-45F5-B409-F4CB-60263F6BBE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764514-BC7A-ECB6-FB8B-DCADDEF9D0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FB581D-BD62-E987-3AB1-4861A83D8F1A}"/>
              </a:ext>
            </a:extLst>
          </p:cNvPr>
          <p:cNvSpPr>
            <a:spLocks noGrp="1"/>
          </p:cNvSpPr>
          <p:nvPr>
            <p:ph type="dt" sz="half" idx="10"/>
          </p:nvPr>
        </p:nvSpPr>
        <p:spPr/>
        <p:txBody>
          <a:bodyPr/>
          <a:lstStyle/>
          <a:p>
            <a:fld id="{412EFBD9-D7F1-473B-8543-38D4F1C2CB49}" type="datetimeFigureOut">
              <a:rPr lang="en-US" smtClean="0"/>
              <a:t>4/7/2026</a:t>
            </a:fld>
            <a:endParaRPr lang="en-US"/>
          </a:p>
        </p:txBody>
      </p:sp>
      <p:sp>
        <p:nvSpPr>
          <p:cNvPr id="6" name="Footer Placeholder 5">
            <a:extLst>
              <a:ext uri="{FF2B5EF4-FFF2-40B4-BE49-F238E27FC236}">
                <a16:creationId xmlns:a16="http://schemas.microsoft.com/office/drawing/2014/main" id="{7E7A7F85-16ED-9FFC-C369-C17B654533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DD8A4A-24AA-370E-A5B1-E65925365D93}"/>
              </a:ext>
            </a:extLst>
          </p:cNvPr>
          <p:cNvSpPr>
            <a:spLocks noGrp="1"/>
          </p:cNvSpPr>
          <p:nvPr>
            <p:ph type="sldNum" sz="quarter" idx="12"/>
          </p:nvPr>
        </p:nvSpPr>
        <p:spPr/>
        <p:txBody>
          <a:bodyPr/>
          <a:lstStyle/>
          <a:p>
            <a:fld id="{E100DE46-063E-4777-A457-5F820268A7E7}" type="slidenum">
              <a:rPr lang="en-US" smtClean="0"/>
              <a:t>‹#›</a:t>
            </a:fld>
            <a:endParaRPr lang="en-US"/>
          </a:p>
        </p:txBody>
      </p:sp>
    </p:spTree>
    <p:extLst>
      <p:ext uri="{BB962C8B-B14F-4D97-AF65-F5344CB8AC3E}">
        <p14:creationId xmlns:p14="http://schemas.microsoft.com/office/powerpoint/2010/main" val="1840476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CAB94-23BF-AF7B-F7D8-3691A7F7C33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3BD4AFE-888E-57CE-A453-F962AA9D71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5EC013-D9E5-8823-75C8-AB1F641F033C}"/>
              </a:ext>
            </a:extLst>
          </p:cNvPr>
          <p:cNvSpPr>
            <a:spLocks noGrp="1"/>
          </p:cNvSpPr>
          <p:nvPr>
            <p:ph type="dt" sz="half" idx="10"/>
          </p:nvPr>
        </p:nvSpPr>
        <p:spPr/>
        <p:txBody>
          <a:bodyPr/>
          <a:lstStyle/>
          <a:p>
            <a:fld id="{412EFBD9-D7F1-473B-8543-38D4F1C2CB49}" type="datetimeFigureOut">
              <a:rPr lang="en-US" smtClean="0"/>
              <a:t>4/7/2026</a:t>
            </a:fld>
            <a:endParaRPr lang="en-US"/>
          </a:p>
        </p:txBody>
      </p:sp>
      <p:sp>
        <p:nvSpPr>
          <p:cNvPr id="5" name="Footer Placeholder 4">
            <a:extLst>
              <a:ext uri="{FF2B5EF4-FFF2-40B4-BE49-F238E27FC236}">
                <a16:creationId xmlns:a16="http://schemas.microsoft.com/office/drawing/2014/main" id="{8B318AFA-92CA-5689-CBAC-550033E83B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02A4C1-1A41-6219-DE41-64EFE8A628AF}"/>
              </a:ext>
            </a:extLst>
          </p:cNvPr>
          <p:cNvSpPr>
            <a:spLocks noGrp="1"/>
          </p:cNvSpPr>
          <p:nvPr>
            <p:ph type="sldNum" sz="quarter" idx="12"/>
          </p:nvPr>
        </p:nvSpPr>
        <p:spPr/>
        <p:txBody>
          <a:bodyPr/>
          <a:lstStyle/>
          <a:p>
            <a:fld id="{E100DE46-063E-4777-A457-5F820268A7E7}" type="slidenum">
              <a:rPr lang="en-US" smtClean="0"/>
              <a:t>‹#›</a:t>
            </a:fld>
            <a:endParaRPr lang="en-US"/>
          </a:p>
        </p:txBody>
      </p:sp>
    </p:spTree>
    <p:extLst>
      <p:ext uri="{BB962C8B-B14F-4D97-AF65-F5344CB8AC3E}">
        <p14:creationId xmlns:p14="http://schemas.microsoft.com/office/powerpoint/2010/main" val="3051459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24D8F8-1D24-A0BC-8139-3E7BC03FBB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9E15CC-3E29-4B00-D5EC-1B60DFB080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FA77C1-91CD-8D09-F3C5-4723F206E848}"/>
              </a:ext>
            </a:extLst>
          </p:cNvPr>
          <p:cNvSpPr>
            <a:spLocks noGrp="1"/>
          </p:cNvSpPr>
          <p:nvPr>
            <p:ph type="dt" sz="half" idx="10"/>
          </p:nvPr>
        </p:nvSpPr>
        <p:spPr/>
        <p:txBody>
          <a:bodyPr/>
          <a:lstStyle/>
          <a:p>
            <a:fld id="{412EFBD9-D7F1-473B-8543-38D4F1C2CB49}" type="datetimeFigureOut">
              <a:rPr lang="en-US" smtClean="0"/>
              <a:t>4/7/2026</a:t>
            </a:fld>
            <a:endParaRPr lang="en-US"/>
          </a:p>
        </p:txBody>
      </p:sp>
      <p:sp>
        <p:nvSpPr>
          <p:cNvPr id="5" name="Footer Placeholder 4">
            <a:extLst>
              <a:ext uri="{FF2B5EF4-FFF2-40B4-BE49-F238E27FC236}">
                <a16:creationId xmlns:a16="http://schemas.microsoft.com/office/drawing/2014/main" id="{9B030234-75D3-D996-8FA9-9D211B7CF2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7AC43E-9409-1F85-9E0D-1C0612E03055}"/>
              </a:ext>
            </a:extLst>
          </p:cNvPr>
          <p:cNvSpPr>
            <a:spLocks noGrp="1"/>
          </p:cNvSpPr>
          <p:nvPr>
            <p:ph type="sldNum" sz="quarter" idx="12"/>
          </p:nvPr>
        </p:nvSpPr>
        <p:spPr/>
        <p:txBody>
          <a:bodyPr/>
          <a:lstStyle/>
          <a:p>
            <a:fld id="{E100DE46-063E-4777-A457-5F820268A7E7}" type="slidenum">
              <a:rPr lang="en-US" smtClean="0"/>
              <a:t>‹#›</a:t>
            </a:fld>
            <a:endParaRPr lang="en-US"/>
          </a:p>
        </p:txBody>
      </p:sp>
    </p:spTree>
    <p:extLst>
      <p:ext uri="{BB962C8B-B14F-4D97-AF65-F5344CB8AC3E}">
        <p14:creationId xmlns:p14="http://schemas.microsoft.com/office/powerpoint/2010/main" val="3935556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D448B8-3863-90E0-C59E-EC2633624E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0AC4173-FF3F-2D4D-F47F-EB6FB06F35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4DCD66-3232-D133-9B01-63114AD889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2EFBD9-D7F1-473B-8543-38D4F1C2CB49}" type="datetimeFigureOut">
              <a:rPr lang="en-US" smtClean="0"/>
              <a:t>4/7/2026</a:t>
            </a:fld>
            <a:endParaRPr lang="en-US"/>
          </a:p>
        </p:txBody>
      </p:sp>
      <p:sp>
        <p:nvSpPr>
          <p:cNvPr id="5" name="Footer Placeholder 4">
            <a:extLst>
              <a:ext uri="{FF2B5EF4-FFF2-40B4-BE49-F238E27FC236}">
                <a16:creationId xmlns:a16="http://schemas.microsoft.com/office/drawing/2014/main" id="{3392E6EC-50E9-0709-F18B-37B4021B99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94013DB-5F26-FAAC-1D68-6A34F74E9A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00DE46-063E-4777-A457-5F820268A7E7}" type="slidenum">
              <a:rPr lang="en-US" smtClean="0"/>
              <a:t>‹#›</a:t>
            </a:fld>
            <a:endParaRPr lang="en-US"/>
          </a:p>
        </p:txBody>
      </p:sp>
    </p:spTree>
    <p:extLst>
      <p:ext uri="{BB962C8B-B14F-4D97-AF65-F5344CB8AC3E}">
        <p14:creationId xmlns:p14="http://schemas.microsoft.com/office/powerpoint/2010/main" val="20706333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413814-90D4-3B90-40F1-E0A239A74338}"/>
              </a:ext>
            </a:extLst>
          </p:cNvPr>
          <p:cNvSpPr txBox="1"/>
          <p:nvPr/>
        </p:nvSpPr>
        <p:spPr>
          <a:xfrm>
            <a:off x="203200" y="101600"/>
            <a:ext cx="11785600" cy="400110"/>
          </a:xfrm>
          <a:prstGeom prst="rect">
            <a:avLst/>
          </a:prstGeom>
          <a:noFill/>
        </p:spPr>
        <p:txBody>
          <a:bodyPr vert="horz" rtlCol="0">
            <a:spAutoFit/>
          </a:bodyPr>
          <a:lstStyle/>
          <a:p>
            <a:r>
              <a:rPr lang="en-US" sz="2000" b="1">
                <a:latin typeface="Arial" panose="020B0604020202020204" pitchFamily="34" charset="0"/>
              </a:rPr>
              <a:t>Figure 1 - Analysis Depth Comparison</a:t>
            </a:r>
          </a:p>
        </p:txBody>
      </p:sp>
      <p:graphicFrame>
        <p:nvGraphicFramePr>
          <p:cNvPr id="3" name="Chart 2">
            <a:extLst>
              <a:ext uri="{FF2B5EF4-FFF2-40B4-BE49-F238E27FC236}">
                <a16:creationId xmlns:a16="http://schemas.microsoft.com/office/drawing/2014/main" id="{9E4033BE-9FE2-E450-5773-69E7CCC69D88}"/>
              </a:ext>
            </a:extLst>
          </p:cNvPr>
          <p:cNvGraphicFramePr/>
          <p:nvPr>
            <p:extLst>
              <p:ext uri="{D42A27DB-BD31-4B8C-83A1-F6EECF244321}">
                <p14:modId xmlns:p14="http://schemas.microsoft.com/office/powerpoint/2010/main" val="658623085"/>
              </p:ext>
            </p:extLst>
          </p:nvPr>
        </p:nvGraphicFramePr>
        <p:xfrm>
          <a:off x="381000" y="660400"/>
          <a:ext cx="11430000" cy="5461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1801F4FE-63E7-E264-8526-B6958957A4F4}"/>
              </a:ext>
            </a:extLst>
          </p:cNvPr>
          <p:cNvSpPr txBox="1"/>
          <p:nvPr/>
        </p:nvSpPr>
        <p:spPr>
          <a:xfrm>
            <a:off x="203200" y="6197600"/>
            <a:ext cx="11785600" cy="261610"/>
          </a:xfrm>
          <a:prstGeom prst="rect">
            <a:avLst/>
          </a:prstGeom>
          <a:noFill/>
        </p:spPr>
        <p:txBody>
          <a:bodyPr vert="horz" rtlCol="0">
            <a:spAutoFit/>
          </a:bodyPr>
          <a:lstStyle/>
          <a:p>
            <a:r>
              <a:rPr lang="en-US" sz="1100">
                <a:solidFill>
                  <a:srgbClr val="1E293B"/>
                </a:solidFill>
                <a:latin typeface="Arial" panose="020B0604020202020204" pitchFamily="34" charset="0"/>
              </a:rPr>
              <a:t>This chart compares how far each tool reaches in the analysis pipeline. VibeScan is the only tool reaching stage 5, which includes proof generation and CI gating.</a:t>
            </a:r>
          </a:p>
        </p:txBody>
      </p:sp>
      <p:sp>
        <p:nvSpPr>
          <p:cNvPr id="5" name="TextBox 4">
            <a:extLst>
              <a:ext uri="{FF2B5EF4-FFF2-40B4-BE49-F238E27FC236}">
                <a16:creationId xmlns:a16="http://schemas.microsoft.com/office/drawing/2014/main" id="{06B05784-302C-0A1D-9C72-A611412BF30C}"/>
              </a:ext>
            </a:extLst>
          </p:cNvPr>
          <p:cNvSpPr txBox="1"/>
          <p:nvPr/>
        </p:nvSpPr>
        <p:spPr>
          <a:xfrm>
            <a:off x="203200" y="6527800"/>
            <a:ext cx="11785600" cy="246221"/>
          </a:xfrm>
          <a:prstGeom prst="rect">
            <a:avLst/>
          </a:prstGeom>
          <a:noFill/>
        </p:spPr>
        <p:txBody>
          <a:bodyPr vert="horz" rtlCol="0">
            <a:spAutoFit/>
          </a:bodyPr>
          <a:lstStyle/>
          <a:p>
            <a:r>
              <a:rPr lang="en-US" sz="1000">
                <a:solidFill>
                  <a:srgbClr val="475569"/>
                </a:solidFill>
                <a:latin typeface="Arial" panose="020B0604020202020204" pitchFamily="34" charset="0"/>
              </a:rPr>
              <a:t>Stage map: 1 Pattern matching, 2 Taint/data flow, 3 Cross-file, 4 Route/API reasoning, 5 Proof generation + CI gates.</a:t>
            </a:r>
          </a:p>
        </p:txBody>
      </p:sp>
    </p:spTree>
    <p:extLst>
      <p:ext uri="{BB962C8B-B14F-4D97-AF65-F5344CB8AC3E}">
        <p14:creationId xmlns:p14="http://schemas.microsoft.com/office/powerpoint/2010/main" val="1002485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798A25-FFE8-83B5-DD74-2E0D9450E45F}"/>
              </a:ext>
            </a:extLst>
          </p:cNvPr>
          <p:cNvSpPr txBox="1"/>
          <p:nvPr/>
        </p:nvSpPr>
        <p:spPr>
          <a:xfrm>
            <a:off x="203200" y="101600"/>
            <a:ext cx="11785600" cy="400110"/>
          </a:xfrm>
          <a:prstGeom prst="rect">
            <a:avLst/>
          </a:prstGeom>
          <a:noFill/>
        </p:spPr>
        <p:txBody>
          <a:bodyPr vert="horz" rtlCol="0">
            <a:spAutoFit/>
          </a:bodyPr>
          <a:lstStyle/>
          <a:p>
            <a:r>
              <a:rPr lang="en-US" sz="2000" b="1">
                <a:latin typeface="Arial" panose="020B0604020202020204" pitchFamily="34" charset="0"/>
              </a:rPr>
              <a:t>Figure 2 - Recall vs Raw Alert Volume</a:t>
            </a:r>
          </a:p>
        </p:txBody>
      </p:sp>
      <p:graphicFrame>
        <p:nvGraphicFramePr>
          <p:cNvPr id="3" name="Chart 2">
            <a:extLst>
              <a:ext uri="{FF2B5EF4-FFF2-40B4-BE49-F238E27FC236}">
                <a16:creationId xmlns:a16="http://schemas.microsoft.com/office/drawing/2014/main" id="{C3F50833-DC1A-5E0E-CFD4-C7B0DD4263B2}"/>
              </a:ext>
            </a:extLst>
          </p:cNvPr>
          <p:cNvGraphicFramePr/>
          <p:nvPr>
            <p:extLst>
              <p:ext uri="{D42A27DB-BD31-4B8C-83A1-F6EECF244321}">
                <p14:modId xmlns:p14="http://schemas.microsoft.com/office/powerpoint/2010/main" val="1648983518"/>
              </p:ext>
            </p:extLst>
          </p:nvPr>
        </p:nvGraphicFramePr>
        <p:xfrm>
          <a:off x="381000" y="660400"/>
          <a:ext cx="11430000" cy="5461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0B3C17CB-9F73-454F-4997-36B09EEB2E2A}"/>
              </a:ext>
            </a:extLst>
          </p:cNvPr>
          <p:cNvSpPr txBox="1"/>
          <p:nvPr/>
        </p:nvSpPr>
        <p:spPr>
          <a:xfrm>
            <a:off x="9398000" y="304800"/>
            <a:ext cx="2286000" cy="261610"/>
          </a:xfrm>
          <a:prstGeom prst="rect">
            <a:avLst/>
          </a:prstGeom>
          <a:noFill/>
        </p:spPr>
        <p:txBody>
          <a:bodyPr vert="horz" rtlCol="0">
            <a:spAutoFit/>
          </a:bodyPr>
          <a:lstStyle/>
          <a:p>
            <a:r>
              <a:rPr lang="en-US" sz="1100">
                <a:latin typeface="Arial" panose="020B0604020202020204" pitchFamily="34" charset="0"/>
              </a:rPr>
              <a:t>Pearson r=-0.73</a:t>
            </a:r>
          </a:p>
        </p:txBody>
      </p:sp>
      <p:sp>
        <p:nvSpPr>
          <p:cNvPr id="5" name="TextBox 4">
            <a:extLst>
              <a:ext uri="{FF2B5EF4-FFF2-40B4-BE49-F238E27FC236}">
                <a16:creationId xmlns:a16="http://schemas.microsoft.com/office/drawing/2014/main" id="{ED49CFAE-E0EC-A850-3EF2-E73AF981A281}"/>
              </a:ext>
            </a:extLst>
          </p:cNvPr>
          <p:cNvSpPr txBox="1"/>
          <p:nvPr/>
        </p:nvSpPr>
        <p:spPr>
          <a:xfrm>
            <a:off x="203200" y="6197600"/>
            <a:ext cx="11785600" cy="261610"/>
          </a:xfrm>
          <a:prstGeom prst="rect">
            <a:avLst/>
          </a:prstGeom>
          <a:noFill/>
        </p:spPr>
        <p:txBody>
          <a:bodyPr vert="horz" rtlCol="0">
            <a:spAutoFit/>
          </a:bodyPr>
          <a:lstStyle/>
          <a:p>
            <a:r>
              <a:rPr lang="en-US" sz="1100">
                <a:solidFill>
                  <a:srgbClr val="1E293B"/>
                </a:solidFill>
                <a:latin typeface="Arial" panose="020B0604020202020204" pitchFamily="34" charset="0"/>
              </a:rPr>
              <a:t>This scatter plot compares DVNA recall against raw alert volume. It shows that generating more alerts does not necessarily produce higher recall.</a:t>
            </a:r>
          </a:p>
        </p:txBody>
      </p:sp>
      <p:sp>
        <p:nvSpPr>
          <p:cNvPr id="6" name="TextBox 5">
            <a:extLst>
              <a:ext uri="{FF2B5EF4-FFF2-40B4-BE49-F238E27FC236}">
                <a16:creationId xmlns:a16="http://schemas.microsoft.com/office/drawing/2014/main" id="{1FB1EB7E-AF2E-F833-0128-E27CB83764EC}"/>
              </a:ext>
            </a:extLst>
          </p:cNvPr>
          <p:cNvSpPr txBox="1"/>
          <p:nvPr/>
        </p:nvSpPr>
        <p:spPr>
          <a:xfrm>
            <a:off x="203200" y="6527800"/>
            <a:ext cx="11785600" cy="246221"/>
          </a:xfrm>
          <a:prstGeom prst="rect">
            <a:avLst/>
          </a:prstGeom>
          <a:noFill/>
        </p:spPr>
        <p:txBody>
          <a:bodyPr vert="horz" rtlCol="0">
            <a:spAutoFit/>
          </a:bodyPr>
          <a:lstStyle/>
          <a:p>
            <a:r>
              <a:rPr lang="en-US" sz="1000">
                <a:solidFill>
                  <a:srgbClr val="475569"/>
                </a:solidFill>
                <a:latin typeface="Arial" panose="020B0604020202020204" pitchFamily="34" charset="0"/>
              </a:rPr>
              <a:t>Recreated from results/dvna-detection-matrix.json (dvnaRunIssueCount + recall).</a:t>
            </a:r>
          </a:p>
        </p:txBody>
      </p:sp>
    </p:spTree>
    <p:extLst>
      <p:ext uri="{BB962C8B-B14F-4D97-AF65-F5344CB8AC3E}">
        <p14:creationId xmlns:p14="http://schemas.microsoft.com/office/powerpoint/2010/main" val="1311324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6F6784-98EF-8630-1450-0ECAA3F42FA5}"/>
              </a:ext>
            </a:extLst>
          </p:cNvPr>
          <p:cNvSpPr txBox="1"/>
          <p:nvPr/>
        </p:nvSpPr>
        <p:spPr>
          <a:xfrm>
            <a:off x="203200" y="101600"/>
            <a:ext cx="11785600" cy="400110"/>
          </a:xfrm>
          <a:prstGeom prst="rect">
            <a:avLst/>
          </a:prstGeom>
          <a:noFill/>
        </p:spPr>
        <p:txBody>
          <a:bodyPr vert="horz" rtlCol="0">
            <a:spAutoFit/>
          </a:bodyPr>
          <a:lstStyle/>
          <a:p>
            <a:r>
              <a:rPr lang="en-US" sz="2000" b="1">
                <a:latin typeface="Arial" panose="020B0604020202020204" pitchFamily="34" charset="0"/>
              </a:rPr>
              <a:t>Figure 6 - Signal-to-Noise (Cases/Alert)</a:t>
            </a:r>
          </a:p>
        </p:txBody>
      </p:sp>
      <p:graphicFrame>
        <p:nvGraphicFramePr>
          <p:cNvPr id="3" name="Chart 2">
            <a:extLst>
              <a:ext uri="{FF2B5EF4-FFF2-40B4-BE49-F238E27FC236}">
                <a16:creationId xmlns:a16="http://schemas.microsoft.com/office/drawing/2014/main" id="{56006A45-5A32-3CCF-7336-E4F3251A1666}"/>
              </a:ext>
            </a:extLst>
          </p:cNvPr>
          <p:cNvGraphicFramePr/>
          <p:nvPr>
            <p:extLst>
              <p:ext uri="{D42A27DB-BD31-4B8C-83A1-F6EECF244321}">
                <p14:modId xmlns:p14="http://schemas.microsoft.com/office/powerpoint/2010/main" val="3401467662"/>
              </p:ext>
            </p:extLst>
          </p:nvPr>
        </p:nvGraphicFramePr>
        <p:xfrm>
          <a:off x="381000" y="660400"/>
          <a:ext cx="11430000" cy="5461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CB3C68B0-6693-D1B3-EB5E-D0A6037D3290}"/>
              </a:ext>
            </a:extLst>
          </p:cNvPr>
          <p:cNvSpPr txBox="1"/>
          <p:nvPr/>
        </p:nvSpPr>
        <p:spPr>
          <a:xfrm>
            <a:off x="203200" y="6197600"/>
            <a:ext cx="11785600" cy="261610"/>
          </a:xfrm>
          <a:prstGeom prst="rect">
            <a:avLst/>
          </a:prstGeom>
          <a:noFill/>
        </p:spPr>
        <p:txBody>
          <a:bodyPr vert="horz" rtlCol="0">
            <a:spAutoFit/>
          </a:bodyPr>
          <a:lstStyle/>
          <a:p>
            <a:r>
              <a:rPr lang="en-US" sz="1100">
                <a:solidFill>
                  <a:srgbClr val="1E293B"/>
                </a:solidFill>
                <a:latin typeface="Arial" panose="020B0604020202020204" pitchFamily="34" charset="0"/>
              </a:rPr>
              <a:t>This bar chart shows signal-to-noise as cases detected per alert. Higher values indicate stronger benchmark value per finding, with VibeScan highest in this run.</a:t>
            </a:r>
          </a:p>
        </p:txBody>
      </p:sp>
      <p:sp>
        <p:nvSpPr>
          <p:cNvPr id="5" name="TextBox 4">
            <a:extLst>
              <a:ext uri="{FF2B5EF4-FFF2-40B4-BE49-F238E27FC236}">
                <a16:creationId xmlns:a16="http://schemas.microsoft.com/office/drawing/2014/main" id="{D049BF5A-B39D-D9DF-727A-0A8738F23FB9}"/>
              </a:ext>
            </a:extLst>
          </p:cNvPr>
          <p:cNvSpPr txBox="1"/>
          <p:nvPr/>
        </p:nvSpPr>
        <p:spPr>
          <a:xfrm>
            <a:off x="203200" y="6527800"/>
            <a:ext cx="11785600" cy="246221"/>
          </a:xfrm>
          <a:prstGeom prst="rect">
            <a:avLst/>
          </a:prstGeom>
          <a:noFill/>
        </p:spPr>
        <p:txBody>
          <a:bodyPr vert="horz" rtlCol="0">
            <a:spAutoFit/>
          </a:bodyPr>
          <a:lstStyle/>
          <a:p>
            <a:r>
              <a:rPr lang="en-US" sz="1000">
                <a:solidFill>
                  <a:srgbClr val="475569"/>
                </a:solidFill>
                <a:latin typeface="Arial" panose="020B0604020202020204" pitchFamily="34" charset="0"/>
              </a:rPr>
              <a:t>Precision proxy = cases detected / raw alerts (higher is better).</a:t>
            </a:r>
          </a:p>
        </p:txBody>
      </p:sp>
    </p:spTree>
    <p:extLst>
      <p:ext uri="{BB962C8B-B14F-4D97-AF65-F5344CB8AC3E}">
        <p14:creationId xmlns:p14="http://schemas.microsoft.com/office/powerpoint/2010/main" val="1597207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CAA77E-C052-0E40-6AC2-B5FBD1BBEA03}"/>
              </a:ext>
            </a:extLst>
          </p:cNvPr>
          <p:cNvSpPr txBox="1"/>
          <p:nvPr/>
        </p:nvSpPr>
        <p:spPr>
          <a:xfrm>
            <a:off x="203200" y="101600"/>
            <a:ext cx="11785600" cy="400110"/>
          </a:xfrm>
          <a:prstGeom prst="rect">
            <a:avLst/>
          </a:prstGeom>
          <a:noFill/>
        </p:spPr>
        <p:txBody>
          <a:bodyPr vert="horz" rtlCol="0">
            <a:spAutoFit/>
          </a:bodyPr>
          <a:lstStyle/>
          <a:p>
            <a:r>
              <a:rPr lang="en-US" sz="2000" b="1">
                <a:latin typeface="Arial" panose="020B0604020202020204" pitchFamily="34" charset="0"/>
              </a:rPr>
              <a:t>Figure 7 - Per-Family Recall by Tool</a:t>
            </a:r>
          </a:p>
        </p:txBody>
      </p:sp>
      <p:graphicFrame>
        <p:nvGraphicFramePr>
          <p:cNvPr id="3" name="Chart 2">
            <a:extLst>
              <a:ext uri="{FF2B5EF4-FFF2-40B4-BE49-F238E27FC236}">
                <a16:creationId xmlns:a16="http://schemas.microsoft.com/office/drawing/2014/main" id="{326114ED-51BA-3153-A6D8-6C4D539E1259}"/>
              </a:ext>
            </a:extLst>
          </p:cNvPr>
          <p:cNvGraphicFramePr/>
          <p:nvPr>
            <p:extLst>
              <p:ext uri="{D42A27DB-BD31-4B8C-83A1-F6EECF244321}">
                <p14:modId xmlns:p14="http://schemas.microsoft.com/office/powerpoint/2010/main" val="1366160625"/>
              </p:ext>
            </p:extLst>
          </p:nvPr>
        </p:nvGraphicFramePr>
        <p:xfrm>
          <a:off x="381000" y="660400"/>
          <a:ext cx="11430000" cy="5461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B6EF624F-21DD-1688-B3E5-3D09BE9252BA}"/>
              </a:ext>
            </a:extLst>
          </p:cNvPr>
          <p:cNvSpPr txBox="1"/>
          <p:nvPr/>
        </p:nvSpPr>
        <p:spPr>
          <a:xfrm>
            <a:off x="203200" y="6197600"/>
            <a:ext cx="11785600" cy="261610"/>
          </a:xfrm>
          <a:prstGeom prst="rect">
            <a:avLst/>
          </a:prstGeom>
          <a:noFill/>
        </p:spPr>
        <p:txBody>
          <a:bodyPr vert="horz" rtlCol="0">
            <a:spAutoFit/>
          </a:bodyPr>
          <a:lstStyle/>
          <a:p>
            <a:r>
              <a:rPr lang="en-US" sz="1100">
                <a:solidFill>
                  <a:srgbClr val="1E293B"/>
                </a:solidFill>
                <a:latin typeface="Arial" panose="020B0604020202020204" pitchFamily="34" charset="0"/>
              </a:rPr>
              <a:t>This grouped chart breaks recall into security families to show where tools diverge. It highlights category-level strengths and coverage gaps that are hidden in overall recall alone.</a:t>
            </a:r>
          </a:p>
        </p:txBody>
      </p:sp>
      <p:sp>
        <p:nvSpPr>
          <p:cNvPr id="5" name="TextBox 4">
            <a:extLst>
              <a:ext uri="{FF2B5EF4-FFF2-40B4-BE49-F238E27FC236}">
                <a16:creationId xmlns:a16="http://schemas.microsoft.com/office/drawing/2014/main" id="{7695436F-3F8D-56F2-9DDE-471C6F86D46E}"/>
              </a:ext>
            </a:extLst>
          </p:cNvPr>
          <p:cNvSpPr txBox="1"/>
          <p:nvPr/>
        </p:nvSpPr>
        <p:spPr>
          <a:xfrm>
            <a:off x="203200" y="6527800"/>
            <a:ext cx="11785600" cy="246221"/>
          </a:xfrm>
          <a:prstGeom prst="rect">
            <a:avLst/>
          </a:prstGeom>
          <a:noFill/>
        </p:spPr>
        <p:txBody>
          <a:bodyPr vert="horz" rtlCol="0">
            <a:spAutoFit/>
          </a:bodyPr>
          <a:lstStyle/>
          <a:p>
            <a:r>
              <a:rPr lang="en-US" sz="1000">
                <a:solidFill>
                  <a:srgbClr val="475569"/>
                </a:solidFill>
                <a:latin typeface="Arial" panose="020B0604020202020204" pitchFamily="34" charset="0"/>
              </a:rPr>
              <a:t>Family groups sourced from results/dvna-case-catalog.json.</a:t>
            </a:r>
          </a:p>
        </p:txBody>
      </p:sp>
    </p:spTree>
    <p:extLst>
      <p:ext uri="{BB962C8B-B14F-4D97-AF65-F5344CB8AC3E}">
        <p14:creationId xmlns:p14="http://schemas.microsoft.com/office/powerpoint/2010/main" val="2305568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0DC873-8607-E5D6-FDAA-32CB883F229B}"/>
              </a:ext>
            </a:extLst>
          </p:cNvPr>
          <p:cNvSpPr txBox="1"/>
          <p:nvPr/>
        </p:nvSpPr>
        <p:spPr>
          <a:xfrm>
            <a:off x="203200" y="101600"/>
            <a:ext cx="11785600" cy="400110"/>
          </a:xfrm>
          <a:prstGeom prst="rect">
            <a:avLst/>
          </a:prstGeom>
          <a:noFill/>
        </p:spPr>
        <p:txBody>
          <a:bodyPr vert="horz" rtlCol="0">
            <a:spAutoFit/>
          </a:bodyPr>
          <a:lstStyle/>
          <a:p>
            <a:r>
              <a:rPr lang="en-US" sz="2000" b="1">
                <a:latin typeface="Arial" panose="020B0604020202020204" pitchFamily="34" charset="0"/>
              </a:rPr>
              <a:t>Figure 4 - Heatmap with Totals</a:t>
            </a:r>
          </a:p>
        </p:txBody>
      </p:sp>
      <p:graphicFrame>
        <p:nvGraphicFramePr>
          <p:cNvPr id="3" name="Chart 2">
            <a:extLst>
              <a:ext uri="{FF2B5EF4-FFF2-40B4-BE49-F238E27FC236}">
                <a16:creationId xmlns:a16="http://schemas.microsoft.com/office/drawing/2014/main" id="{1B0ED29D-0B5E-846D-6642-A5A149FF9F44}"/>
              </a:ext>
            </a:extLst>
          </p:cNvPr>
          <p:cNvGraphicFramePr/>
          <p:nvPr>
            <p:extLst>
              <p:ext uri="{D42A27DB-BD31-4B8C-83A1-F6EECF244321}">
                <p14:modId xmlns:p14="http://schemas.microsoft.com/office/powerpoint/2010/main" val="2690701503"/>
              </p:ext>
            </p:extLst>
          </p:nvPr>
        </p:nvGraphicFramePr>
        <p:xfrm>
          <a:off x="254000" y="660400"/>
          <a:ext cx="8191500" cy="37465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253A0FC6-3B91-82C0-FFAC-16AB3BCE2054}"/>
              </a:ext>
            </a:extLst>
          </p:cNvPr>
          <p:cNvSpPr txBox="1"/>
          <p:nvPr/>
        </p:nvSpPr>
        <p:spPr>
          <a:xfrm>
            <a:off x="203200" y="6197600"/>
            <a:ext cx="11785600" cy="261610"/>
          </a:xfrm>
          <a:prstGeom prst="rect">
            <a:avLst/>
          </a:prstGeom>
          <a:noFill/>
        </p:spPr>
        <p:txBody>
          <a:bodyPr vert="horz" rtlCol="0">
            <a:spAutoFit/>
          </a:bodyPr>
          <a:lstStyle/>
          <a:p>
            <a:r>
              <a:rPr lang="en-US" sz="1100">
                <a:solidFill>
                  <a:srgbClr val="1E293B"/>
                </a:solidFill>
                <a:latin typeface="Arial" panose="020B0604020202020204" pitchFamily="34" charset="0"/>
              </a:rPr>
              <a:t>This heatmap shows per-case detection outcomes by tool. Colored cells indicate where each tool hits or misses specific benchmark rows, making case-level differences explicit.</a:t>
            </a:r>
          </a:p>
        </p:txBody>
      </p:sp>
      <p:sp>
        <p:nvSpPr>
          <p:cNvPr id="5" name="TextBox 4">
            <a:extLst>
              <a:ext uri="{FF2B5EF4-FFF2-40B4-BE49-F238E27FC236}">
                <a16:creationId xmlns:a16="http://schemas.microsoft.com/office/drawing/2014/main" id="{90934E77-D5EB-10AC-FDD8-9DB5560673B1}"/>
              </a:ext>
            </a:extLst>
          </p:cNvPr>
          <p:cNvSpPr txBox="1"/>
          <p:nvPr/>
        </p:nvSpPr>
        <p:spPr>
          <a:xfrm>
            <a:off x="203200" y="6527800"/>
            <a:ext cx="11785600" cy="246221"/>
          </a:xfrm>
          <a:prstGeom prst="rect">
            <a:avLst/>
          </a:prstGeom>
          <a:noFill/>
        </p:spPr>
        <p:txBody>
          <a:bodyPr vert="horz" rtlCol="0">
            <a:spAutoFit/>
          </a:bodyPr>
          <a:lstStyle/>
          <a:p>
            <a:r>
              <a:rPr lang="en-US" sz="1000">
                <a:solidFill>
                  <a:srgbClr val="475569"/>
                </a:solidFill>
                <a:latin typeface="Arial" panose="020B0604020202020204" pitchFamily="34" charset="0"/>
              </a:rPr>
              <a:t>Matrix cells are editable chart points (green=hit, red=miss).</a:t>
            </a:r>
          </a:p>
        </p:txBody>
      </p:sp>
    </p:spTree>
    <p:extLst>
      <p:ext uri="{BB962C8B-B14F-4D97-AF65-F5344CB8AC3E}">
        <p14:creationId xmlns:p14="http://schemas.microsoft.com/office/powerpoint/2010/main" val="1825933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1D91BB-2360-EBC6-E18E-AF020960617C}"/>
              </a:ext>
            </a:extLst>
          </p:cNvPr>
          <p:cNvSpPr txBox="1"/>
          <p:nvPr/>
        </p:nvSpPr>
        <p:spPr>
          <a:xfrm>
            <a:off x="203200" y="101600"/>
            <a:ext cx="11785600" cy="400110"/>
          </a:xfrm>
          <a:prstGeom prst="rect">
            <a:avLst/>
          </a:prstGeom>
          <a:noFill/>
        </p:spPr>
        <p:txBody>
          <a:bodyPr vert="horz" rtlCol="0">
            <a:spAutoFit/>
          </a:bodyPr>
          <a:lstStyle/>
          <a:p>
            <a:r>
              <a:rPr lang="en-US" sz="2000" b="1">
                <a:latin typeface="Arial" panose="020B0604020202020204" pitchFamily="34" charset="0"/>
              </a:rPr>
              <a:t>Figure 4 Companion - Case Difficulty (ETS Delta)</a:t>
            </a:r>
          </a:p>
        </p:txBody>
      </p:sp>
      <p:graphicFrame>
        <p:nvGraphicFramePr>
          <p:cNvPr id="3" name="Chart 2">
            <a:extLst>
              <a:ext uri="{FF2B5EF4-FFF2-40B4-BE49-F238E27FC236}">
                <a16:creationId xmlns:a16="http://schemas.microsoft.com/office/drawing/2014/main" id="{3507F930-664B-3D80-258F-590148EE826E}"/>
              </a:ext>
            </a:extLst>
          </p:cNvPr>
          <p:cNvGraphicFramePr/>
          <p:nvPr>
            <p:extLst>
              <p:ext uri="{D42A27DB-BD31-4B8C-83A1-F6EECF244321}">
                <p14:modId xmlns:p14="http://schemas.microsoft.com/office/powerpoint/2010/main" val="2214757152"/>
              </p:ext>
            </p:extLst>
          </p:nvPr>
        </p:nvGraphicFramePr>
        <p:xfrm>
          <a:off x="381000" y="660400"/>
          <a:ext cx="11430000" cy="5461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419696BD-3DD9-A6BA-E856-1AA1D51BE0CA}"/>
              </a:ext>
            </a:extLst>
          </p:cNvPr>
          <p:cNvSpPr txBox="1"/>
          <p:nvPr/>
        </p:nvSpPr>
        <p:spPr>
          <a:xfrm>
            <a:off x="203200" y="6197600"/>
            <a:ext cx="11785600" cy="261610"/>
          </a:xfrm>
          <a:prstGeom prst="rect">
            <a:avLst/>
          </a:prstGeom>
          <a:noFill/>
        </p:spPr>
        <p:txBody>
          <a:bodyPr vert="horz" rtlCol="0">
            <a:spAutoFit/>
          </a:bodyPr>
          <a:lstStyle/>
          <a:p>
            <a:r>
              <a:rPr lang="en-US" sz="1100">
                <a:solidFill>
                  <a:srgbClr val="1E293B"/>
                </a:solidFill>
                <a:latin typeface="Arial" panose="020B0604020202020204" pitchFamily="34" charset="0"/>
              </a:rPr>
              <a:t>This companion chart summarizes case difficulty using ETS delta derived from tool-consensus p (p=hits/6). Higher delta values indicate harder cases.</a:t>
            </a:r>
          </a:p>
        </p:txBody>
      </p:sp>
      <p:sp>
        <p:nvSpPr>
          <p:cNvPr id="5" name="TextBox 4">
            <a:extLst>
              <a:ext uri="{FF2B5EF4-FFF2-40B4-BE49-F238E27FC236}">
                <a16:creationId xmlns:a16="http://schemas.microsoft.com/office/drawing/2014/main" id="{3EF46039-7A99-D42E-525B-C38546872107}"/>
              </a:ext>
            </a:extLst>
          </p:cNvPr>
          <p:cNvSpPr txBox="1"/>
          <p:nvPr/>
        </p:nvSpPr>
        <p:spPr>
          <a:xfrm>
            <a:off x="203200" y="6527800"/>
            <a:ext cx="11785600" cy="246221"/>
          </a:xfrm>
          <a:prstGeom prst="rect">
            <a:avLst/>
          </a:prstGeom>
          <a:noFill/>
        </p:spPr>
        <p:txBody>
          <a:bodyPr vert="horz" rtlCol="0">
            <a:spAutoFit/>
          </a:bodyPr>
          <a:lstStyle/>
          <a:p>
            <a:r>
              <a:rPr lang="en-US" sz="1000">
                <a:solidFill>
                  <a:srgbClr val="475569"/>
                </a:solidFill>
                <a:latin typeface="Arial" panose="020B0604020202020204" pitchFamily="34" charset="0"/>
              </a:rPr>
              <a:t>Matches right-side delta values from the poster heatmap.</a:t>
            </a:r>
          </a:p>
        </p:txBody>
      </p:sp>
    </p:spTree>
    <p:extLst>
      <p:ext uri="{BB962C8B-B14F-4D97-AF65-F5344CB8AC3E}">
        <p14:creationId xmlns:p14="http://schemas.microsoft.com/office/powerpoint/2010/main" val="3510312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367E4B-706B-5796-00B7-4E88C26670AA}"/>
              </a:ext>
            </a:extLst>
          </p:cNvPr>
          <p:cNvSpPr txBox="1"/>
          <p:nvPr/>
        </p:nvSpPr>
        <p:spPr>
          <a:xfrm>
            <a:off x="203200" y="101600"/>
            <a:ext cx="11785600" cy="400110"/>
          </a:xfrm>
          <a:prstGeom prst="rect">
            <a:avLst/>
          </a:prstGeom>
          <a:noFill/>
        </p:spPr>
        <p:txBody>
          <a:bodyPr vert="horz" rtlCol="0">
            <a:spAutoFit/>
          </a:bodyPr>
          <a:lstStyle/>
          <a:p>
            <a:r>
              <a:rPr lang="en-US" sz="2000" b="1">
                <a:latin typeface="Arial" panose="020B0604020202020204" pitchFamily="34" charset="0"/>
              </a:rPr>
              <a:t>Figure 4 Companion - Total Hits by Tool</a:t>
            </a:r>
          </a:p>
        </p:txBody>
      </p:sp>
      <p:graphicFrame>
        <p:nvGraphicFramePr>
          <p:cNvPr id="3" name="Chart 2">
            <a:extLst>
              <a:ext uri="{FF2B5EF4-FFF2-40B4-BE49-F238E27FC236}">
                <a16:creationId xmlns:a16="http://schemas.microsoft.com/office/drawing/2014/main" id="{DAD01E8C-DDC5-9207-0A1D-A515A3936B0B}"/>
              </a:ext>
            </a:extLst>
          </p:cNvPr>
          <p:cNvGraphicFramePr/>
          <p:nvPr>
            <p:extLst>
              <p:ext uri="{D42A27DB-BD31-4B8C-83A1-F6EECF244321}">
                <p14:modId xmlns:p14="http://schemas.microsoft.com/office/powerpoint/2010/main" val="2274886017"/>
              </p:ext>
            </p:extLst>
          </p:nvPr>
        </p:nvGraphicFramePr>
        <p:xfrm>
          <a:off x="381000" y="660400"/>
          <a:ext cx="11430000" cy="5461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585D8A8E-0388-9030-F213-540D0817DB23}"/>
              </a:ext>
            </a:extLst>
          </p:cNvPr>
          <p:cNvSpPr txBox="1"/>
          <p:nvPr/>
        </p:nvSpPr>
        <p:spPr>
          <a:xfrm>
            <a:off x="203200" y="6197600"/>
            <a:ext cx="11785600" cy="261610"/>
          </a:xfrm>
          <a:prstGeom prst="rect">
            <a:avLst/>
          </a:prstGeom>
          <a:noFill/>
        </p:spPr>
        <p:txBody>
          <a:bodyPr vert="horz" rtlCol="0">
            <a:spAutoFit/>
          </a:bodyPr>
          <a:lstStyle/>
          <a:p>
            <a:r>
              <a:rPr lang="en-US" sz="1100">
                <a:solidFill>
                  <a:srgbClr val="1E293B"/>
                </a:solidFill>
                <a:latin typeface="Arial" panose="020B0604020202020204" pitchFamily="34" charset="0"/>
              </a:rPr>
              <a:t>This companion chart totals detected cases per tool out of the 11 DVNA rows. It provides a direct side-by-side view of overall benchmark coverage.</a:t>
            </a:r>
          </a:p>
        </p:txBody>
      </p:sp>
      <p:sp>
        <p:nvSpPr>
          <p:cNvPr id="5" name="TextBox 4">
            <a:extLst>
              <a:ext uri="{FF2B5EF4-FFF2-40B4-BE49-F238E27FC236}">
                <a16:creationId xmlns:a16="http://schemas.microsoft.com/office/drawing/2014/main" id="{A381A85D-70B4-FAC5-82B8-90ABC765E7B4}"/>
              </a:ext>
            </a:extLst>
          </p:cNvPr>
          <p:cNvSpPr txBox="1"/>
          <p:nvPr/>
        </p:nvSpPr>
        <p:spPr>
          <a:xfrm>
            <a:off x="203200" y="6527800"/>
            <a:ext cx="11785600" cy="246221"/>
          </a:xfrm>
          <a:prstGeom prst="rect">
            <a:avLst/>
          </a:prstGeom>
          <a:noFill/>
        </p:spPr>
        <p:txBody>
          <a:bodyPr vert="horz" rtlCol="0">
            <a:spAutoFit/>
          </a:bodyPr>
          <a:lstStyle/>
          <a:p>
            <a:r>
              <a:rPr lang="en-US" sz="1000">
                <a:solidFill>
                  <a:srgbClr val="475569"/>
                </a:solidFill>
                <a:latin typeface="Arial" panose="020B0604020202020204" pitchFamily="34" charset="0"/>
              </a:rPr>
              <a:t>Matches bottom-row total-hit summary from the poster heatmap.</a:t>
            </a:r>
          </a:p>
        </p:txBody>
      </p:sp>
    </p:spTree>
    <p:extLst>
      <p:ext uri="{BB962C8B-B14F-4D97-AF65-F5344CB8AC3E}">
        <p14:creationId xmlns:p14="http://schemas.microsoft.com/office/powerpoint/2010/main" val="3178162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1320AC-2D9A-4EEC-B440-410A2AA3E6B6}"/>
              </a:ext>
            </a:extLst>
          </p:cNvPr>
          <p:cNvSpPr txBox="1"/>
          <p:nvPr/>
        </p:nvSpPr>
        <p:spPr>
          <a:xfrm>
            <a:off x="203200" y="101600"/>
            <a:ext cx="11785600" cy="400110"/>
          </a:xfrm>
          <a:prstGeom prst="rect">
            <a:avLst/>
          </a:prstGeom>
          <a:noFill/>
        </p:spPr>
        <p:txBody>
          <a:bodyPr vert="horz" rtlCol="0">
            <a:spAutoFit/>
          </a:bodyPr>
          <a:lstStyle/>
          <a:p>
            <a:r>
              <a:rPr lang="en-US" sz="2000" b="1">
                <a:latin typeface="Arial" panose="020B0604020202020204" pitchFamily="34" charset="0"/>
              </a:rPr>
              <a:t>Figure 8 - Recall vs Precision Proxy</a:t>
            </a:r>
          </a:p>
        </p:txBody>
      </p:sp>
      <p:graphicFrame>
        <p:nvGraphicFramePr>
          <p:cNvPr id="3" name="Chart 2">
            <a:extLst>
              <a:ext uri="{FF2B5EF4-FFF2-40B4-BE49-F238E27FC236}">
                <a16:creationId xmlns:a16="http://schemas.microsoft.com/office/drawing/2014/main" id="{2AA10B28-7871-719D-411B-63DBC0776D2F}"/>
              </a:ext>
            </a:extLst>
          </p:cNvPr>
          <p:cNvGraphicFramePr/>
          <p:nvPr>
            <p:extLst>
              <p:ext uri="{D42A27DB-BD31-4B8C-83A1-F6EECF244321}">
                <p14:modId xmlns:p14="http://schemas.microsoft.com/office/powerpoint/2010/main" val="2331997293"/>
              </p:ext>
            </p:extLst>
          </p:nvPr>
        </p:nvGraphicFramePr>
        <p:xfrm>
          <a:off x="381000" y="660400"/>
          <a:ext cx="11430000" cy="5461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46AF0BA4-D344-1387-119C-427249734155}"/>
              </a:ext>
            </a:extLst>
          </p:cNvPr>
          <p:cNvSpPr txBox="1"/>
          <p:nvPr/>
        </p:nvSpPr>
        <p:spPr>
          <a:xfrm>
            <a:off x="203200" y="6197600"/>
            <a:ext cx="11785600" cy="261610"/>
          </a:xfrm>
          <a:prstGeom prst="rect">
            <a:avLst/>
          </a:prstGeom>
          <a:noFill/>
        </p:spPr>
        <p:txBody>
          <a:bodyPr vert="horz" rtlCol="0">
            <a:spAutoFit/>
          </a:bodyPr>
          <a:lstStyle/>
          <a:p>
            <a:r>
              <a:rPr lang="en-US" sz="1100">
                <a:solidFill>
                  <a:srgbClr val="1E293B"/>
                </a:solidFill>
                <a:latin typeface="Arial" panose="020B0604020202020204" pitchFamily="34" charset="0"/>
              </a:rPr>
              <a:t>This scatter plot compares recall with the precision proxy. It helps visualize the tradeoff between coverage and alert quality for each tool.</a:t>
            </a:r>
          </a:p>
        </p:txBody>
      </p:sp>
      <p:sp>
        <p:nvSpPr>
          <p:cNvPr id="5" name="TextBox 4">
            <a:extLst>
              <a:ext uri="{FF2B5EF4-FFF2-40B4-BE49-F238E27FC236}">
                <a16:creationId xmlns:a16="http://schemas.microsoft.com/office/drawing/2014/main" id="{F677BADB-4C28-7B88-1B74-02A9DE253018}"/>
              </a:ext>
            </a:extLst>
          </p:cNvPr>
          <p:cNvSpPr txBox="1"/>
          <p:nvPr/>
        </p:nvSpPr>
        <p:spPr>
          <a:xfrm>
            <a:off x="203200" y="6527800"/>
            <a:ext cx="11785600" cy="246221"/>
          </a:xfrm>
          <a:prstGeom prst="rect">
            <a:avLst/>
          </a:prstGeom>
          <a:noFill/>
        </p:spPr>
        <p:txBody>
          <a:bodyPr vert="horz" rtlCol="0">
            <a:spAutoFit/>
          </a:bodyPr>
          <a:lstStyle/>
          <a:p>
            <a:r>
              <a:rPr lang="en-US" sz="1000">
                <a:solidFill>
                  <a:srgbClr val="475569"/>
                </a:solidFill>
                <a:latin typeface="Arial" panose="020B0604020202020204" pitchFamily="34" charset="0"/>
              </a:rPr>
              <a:t>Precision proxy is not formal false-positive-adjudicated precision.</a:t>
            </a:r>
          </a:p>
        </p:txBody>
      </p:sp>
    </p:spTree>
    <p:extLst>
      <p:ext uri="{BB962C8B-B14F-4D97-AF65-F5344CB8AC3E}">
        <p14:creationId xmlns:p14="http://schemas.microsoft.com/office/powerpoint/2010/main" val="3706710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0FED93-DE9C-3D31-8ACE-871D6D394598}"/>
              </a:ext>
            </a:extLst>
          </p:cNvPr>
          <p:cNvSpPr txBox="1"/>
          <p:nvPr/>
        </p:nvSpPr>
        <p:spPr>
          <a:xfrm>
            <a:off x="203200" y="101600"/>
            <a:ext cx="11785600" cy="400110"/>
          </a:xfrm>
          <a:prstGeom prst="rect">
            <a:avLst/>
          </a:prstGeom>
          <a:noFill/>
        </p:spPr>
        <p:txBody>
          <a:bodyPr vert="horz" rtlCol="0">
            <a:spAutoFit/>
          </a:bodyPr>
          <a:lstStyle/>
          <a:p>
            <a:r>
              <a:rPr lang="en-US" sz="2000" b="1">
                <a:latin typeface="Arial" panose="020B0604020202020204" pitchFamily="34" charset="0"/>
              </a:rPr>
              <a:t>Figure 9 - Recall vs Scan Time</a:t>
            </a:r>
          </a:p>
        </p:txBody>
      </p:sp>
      <p:graphicFrame>
        <p:nvGraphicFramePr>
          <p:cNvPr id="3" name="Chart 2">
            <a:extLst>
              <a:ext uri="{FF2B5EF4-FFF2-40B4-BE49-F238E27FC236}">
                <a16:creationId xmlns:a16="http://schemas.microsoft.com/office/drawing/2014/main" id="{64C240E3-2B00-F33C-6FDD-49C3C3A83B48}"/>
              </a:ext>
            </a:extLst>
          </p:cNvPr>
          <p:cNvGraphicFramePr/>
          <p:nvPr>
            <p:extLst>
              <p:ext uri="{D42A27DB-BD31-4B8C-83A1-F6EECF244321}">
                <p14:modId xmlns:p14="http://schemas.microsoft.com/office/powerpoint/2010/main" val="3490835533"/>
              </p:ext>
            </p:extLst>
          </p:nvPr>
        </p:nvGraphicFramePr>
        <p:xfrm>
          <a:off x="381000" y="660400"/>
          <a:ext cx="11430000" cy="5461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2A4D31AE-92FA-6114-2283-483A523A60DF}"/>
              </a:ext>
            </a:extLst>
          </p:cNvPr>
          <p:cNvSpPr txBox="1"/>
          <p:nvPr/>
        </p:nvSpPr>
        <p:spPr>
          <a:xfrm>
            <a:off x="203200" y="6197600"/>
            <a:ext cx="11785600" cy="261610"/>
          </a:xfrm>
          <a:prstGeom prst="rect">
            <a:avLst/>
          </a:prstGeom>
          <a:noFill/>
        </p:spPr>
        <p:txBody>
          <a:bodyPr vert="horz" rtlCol="0">
            <a:spAutoFit/>
          </a:bodyPr>
          <a:lstStyle/>
          <a:p>
            <a:r>
              <a:rPr lang="en-US" sz="1100">
                <a:solidFill>
                  <a:srgbClr val="1E293B"/>
                </a:solidFill>
                <a:latin typeface="Arial" panose="020B0604020202020204" pitchFamily="34" charset="0"/>
              </a:rPr>
              <a:t>This chart compares recall against runtime on a log-scale x-axis. It shows relative operational cost while preserving visibility from sub-second scans to long-running analyses.</a:t>
            </a:r>
          </a:p>
        </p:txBody>
      </p:sp>
      <p:sp>
        <p:nvSpPr>
          <p:cNvPr id="5" name="TextBox 4">
            <a:extLst>
              <a:ext uri="{FF2B5EF4-FFF2-40B4-BE49-F238E27FC236}">
                <a16:creationId xmlns:a16="http://schemas.microsoft.com/office/drawing/2014/main" id="{847CD553-6764-F413-08F3-7EE9A4C72135}"/>
              </a:ext>
            </a:extLst>
          </p:cNvPr>
          <p:cNvSpPr txBox="1"/>
          <p:nvPr/>
        </p:nvSpPr>
        <p:spPr>
          <a:xfrm>
            <a:off x="203200" y="6527800"/>
            <a:ext cx="11785600" cy="246221"/>
          </a:xfrm>
          <a:prstGeom prst="rect">
            <a:avLst/>
          </a:prstGeom>
          <a:noFill/>
        </p:spPr>
        <p:txBody>
          <a:bodyPr vert="horz" rtlCol="0">
            <a:spAutoFit/>
          </a:bodyPr>
          <a:lstStyle/>
          <a:p>
            <a:r>
              <a:rPr lang="en-US" sz="1000">
                <a:solidFill>
                  <a:srgbClr val="475569"/>
                </a:solidFill>
                <a:latin typeface="Arial" panose="020B0604020202020204" pitchFamily="34" charset="0"/>
              </a:rPr>
              <a:t>Runtimes from results/dvna-tool-timings.json (wall-clock rerun values).</a:t>
            </a:r>
          </a:p>
        </p:txBody>
      </p:sp>
    </p:spTree>
    <p:extLst>
      <p:ext uri="{BB962C8B-B14F-4D97-AF65-F5344CB8AC3E}">
        <p14:creationId xmlns:p14="http://schemas.microsoft.com/office/powerpoint/2010/main" val="10937577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1264</Words>
  <Application>Microsoft Office PowerPoint</Application>
  <PresentationFormat>Widescreen</PresentationFormat>
  <Paragraphs>75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Josh Obersteadt (Sting Account)</dc:creator>
  <cp:lastModifiedBy>Josh Obersteadt (Sting Account)</cp:lastModifiedBy>
  <cp:revision>1</cp:revision>
  <dcterms:created xsi:type="dcterms:W3CDTF">2026-04-08T02:36:07Z</dcterms:created>
  <dcterms:modified xsi:type="dcterms:W3CDTF">2026-04-08T02:36:07Z</dcterms:modified>
</cp:coreProperties>
</file>