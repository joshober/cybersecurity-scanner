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0" cy="329184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0" cy="3291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9743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</a:defRPr>
            </a:pPr>
            <a:r>
              <a:t>VibeScan Data Science Poster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74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475569"/>
                </a:solidFill>
              </a:defRPr>
            </a:pPr>
            <a:r>
              <a:t>Combined from benchmark chart slides: recall, precision proxy, runtime, and case-level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6215360" cy="89318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749040"/>
            <a:ext cx="15886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Figure 1: Analysis Depth Comparison</a:t>
            </a:r>
          </a:p>
        </p:txBody>
      </p:sp>
      <p:pic>
        <p:nvPicPr>
          <p:cNvPr id="8" name="Picture 7" descr="figure-01-figure-1-analysis-depth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887" y="4178808"/>
            <a:ext cx="5162625" cy="819119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7495520" y="3657600"/>
            <a:ext cx="16215360" cy="89318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60112" y="3749040"/>
            <a:ext cx="15886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Figure 2: Recall vs Raw Alert Volume</a:t>
            </a:r>
          </a:p>
        </p:txBody>
      </p:sp>
      <p:pic>
        <p:nvPicPr>
          <p:cNvPr id="11" name="Picture 10" descr="figure-02-figure-2-recall-vs-raw-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2191" y="4178808"/>
            <a:ext cx="12302017" cy="81911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4259520" y="3657600"/>
            <a:ext cx="16215360" cy="89318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24112" y="3749040"/>
            <a:ext cx="15886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Figure 6: Signal-to-Noise</a:t>
            </a:r>
          </a:p>
        </p:txBody>
      </p:sp>
      <p:pic>
        <p:nvPicPr>
          <p:cNvPr id="14" name="Picture 13" descr="figure-03-figure-6-signal-to-noise-de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8661" y="4178808"/>
            <a:ext cx="13917078" cy="819119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1520" y="13229539"/>
            <a:ext cx="16215360" cy="89318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3320979"/>
            <a:ext cx="15886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Figure 7: Per-Family Recall</a:t>
            </a:r>
          </a:p>
        </p:txBody>
      </p:sp>
      <p:pic>
        <p:nvPicPr>
          <p:cNvPr id="17" name="Picture 16" descr="figure-04-figure-7-per-family-re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244" y="13750747"/>
            <a:ext cx="13105911" cy="819119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7495520" y="13229539"/>
            <a:ext cx="16215360" cy="89318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660112" y="13320979"/>
            <a:ext cx="15886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Figure 4: Heatmap with Totals</a:t>
            </a:r>
          </a:p>
        </p:txBody>
      </p:sp>
      <p:pic>
        <p:nvPicPr>
          <p:cNvPr id="20" name="Picture 19" descr="figure-05-figure-4-heatmap-with-tota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63414" y="13750747"/>
            <a:ext cx="13679571" cy="819119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4259520" y="13229539"/>
            <a:ext cx="16215360" cy="89318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24112" y="13320979"/>
            <a:ext cx="15886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Figure 8: Recall vs Precision Proxy</a:t>
            </a:r>
          </a:p>
        </p:txBody>
      </p:sp>
      <p:pic>
        <p:nvPicPr>
          <p:cNvPr id="23" name="Picture 22" descr="figure-06-figure-8-recall-vs-precision-prox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14244" y="13750747"/>
            <a:ext cx="13105911" cy="819119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735056" y="22801478"/>
            <a:ext cx="29736288" cy="920252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99648" y="22892918"/>
            <a:ext cx="294071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Figure 9: Recall vs Scan Time</a:t>
            </a:r>
          </a:p>
        </p:txBody>
      </p:sp>
      <p:pic>
        <p:nvPicPr>
          <p:cNvPr id="26" name="Picture 25" descr="figure-07-figure-9-recall-vs-scan-ti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66852" y="23322686"/>
            <a:ext cx="14472695" cy="846185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32186880"/>
            <a:ext cx="4974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Source figures: docs/vibescan/ppt-diagrams/*.png | Generated into a new combined poster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