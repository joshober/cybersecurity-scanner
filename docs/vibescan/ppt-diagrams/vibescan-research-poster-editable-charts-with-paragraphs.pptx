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Depth stage reached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CFF0-4FB0-8F57-851F603619BC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FF0-4FB0-8F57-851F603619BC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CFF0-4FB0-8F57-851F603619BC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FF0-4FB0-8F57-851F603619BC}"/>
              </c:ext>
            </c:extLst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CFF0-4FB0-8F57-851F603619BC}"/>
              </c:ext>
            </c:extLst>
          </c:dPt>
          <c:dPt>
            <c:idx val="5"/>
            <c:invertIfNegative val="0"/>
            <c:bubble3D val="0"/>
            <c:spPr>
              <a:solidFill>
                <a:srgbClr val="0EA5E9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CFF0-4FB0-8F57-851F603619BC}"/>
              </c:ext>
            </c:extLst>
          </c:dPt>
          <c:dLbls>
            <c:dLbl>
              <c:idx val="0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CFF0-4FB0-8F57-851F603619BC}"/>
                </c:ext>
              </c:extLst>
            </c:dLbl>
            <c:dLbl>
              <c:idx val="1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CFF0-4FB0-8F57-851F603619BC}"/>
                </c:ext>
              </c:extLst>
            </c:dLbl>
            <c:dLbl>
              <c:idx val="2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CFF0-4FB0-8F57-851F603619BC}"/>
                </c:ext>
              </c:extLst>
            </c:dLbl>
            <c:dLbl>
              <c:idx val="3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CFF0-4FB0-8F57-851F603619BC}"/>
                </c:ext>
              </c:extLst>
            </c:dLbl>
            <c:dLbl>
              <c:idx val="4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CFF0-4FB0-8F57-851F603619BC}"/>
                </c:ext>
              </c:extLst>
            </c:dLbl>
            <c:dLbl>
              <c:idx val="5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CFF0-4FB0-8F57-851F603619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6"/>
              <c:pt idx="0">
                <c:v>VibeScan</c:v>
              </c:pt>
              <c:pt idx="1">
                <c:v>Bearer</c:v>
              </c:pt>
              <c:pt idx="2">
                <c:v>Snyk Code</c:v>
              </c:pt>
              <c:pt idx="3">
                <c:v>CodeQL</c:v>
              </c:pt>
              <c:pt idx="4">
                <c:v>Semgrep</c:v>
              </c:pt>
              <c:pt idx="5">
                <c:v>eslint-plugin-security</c:v>
              </c:pt>
            </c:str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3</c:v>
              </c:pt>
              <c:pt idx="2">
                <c:v>3</c:v>
              </c:pt>
              <c:pt idx="3">
                <c:v>3</c:v>
              </c:pt>
              <c:pt idx="4">
                <c:v>2</c:v>
              </c:pt>
              <c:pt idx="5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3-CFF0-4FB0-8F57-851F603619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0513760"/>
        <c:axId val="1990514720"/>
      </c:barChart>
      <c:catAx>
        <c:axId val="199051376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Analysis depth stage (1-5)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0514720"/>
        <c:crosses val="autoZero"/>
        <c:auto val="1"/>
        <c:lblAlgn val="ctr"/>
        <c:lblOffset val="100"/>
        <c:noMultiLvlLbl val="0"/>
      </c:catAx>
      <c:valAx>
        <c:axId val="1990514720"/>
        <c:scaling>
          <c:orientation val="maxMin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0513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Tools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11"/>
              <c:spPr>
                <a:solidFill>
                  <a:srgbClr val="16A34A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F4-44C6-9B0E-F570E74F906C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2563E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CFF4-44C6-9B0E-F570E74F906C}"/>
              </c:ext>
            </c:extLst>
          </c:dPt>
          <c:dPt>
            <c:idx val="2"/>
            <c:marker>
              <c:symbol val="circle"/>
              <c:size val="8"/>
              <c:spPr>
                <a:solidFill>
                  <a:srgbClr val="F59E0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F4-44C6-9B0E-F570E74F906C}"/>
              </c:ext>
            </c:extLst>
          </c:dPt>
          <c:dPt>
            <c:idx val="3"/>
            <c:marker>
              <c:symbol val="circle"/>
              <c:size val="8"/>
              <c:spPr>
                <a:solidFill>
                  <a:srgbClr val="8B5CF6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CFF4-44C6-9B0E-F570E74F906C}"/>
              </c:ext>
            </c:extLst>
          </c:dPt>
          <c:dPt>
            <c:idx val="4"/>
            <c:marker>
              <c:symbol val="circle"/>
              <c:size val="8"/>
              <c:spPr>
                <a:solidFill>
                  <a:srgbClr val="EF4444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F4-44C6-9B0E-F570E74F906C}"/>
              </c:ext>
            </c:extLst>
          </c:dPt>
          <c:dPt>
            <c:idx val="5"/>
            <c:marker>
              <c:symbol val="circle"/>
              <c:size val="8"/>
              <c:spPr>
                <a:solidFill>
                  <a:srgbClr val="0EA5E9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8-CFF4-44C6-9B0E-F570E74F906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VibeScan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FF4-44C6-9B0E-F570E74F906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Bearer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FF4-44C6-9B0E-F570E74F906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Snyk 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FF4-44C6-9B0E-F570E74F906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Semgrep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FF4-44C6-9B0E-F570E74F906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CodeQL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FF4-44C6-9B0E-F570E74F906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eslint-plugin-security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CFF4-44C6-9B0E-F570E74F90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rgbClr val="EF4444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Lit>
              <c:formatCode>General</c:formatCode>
              <c:ptCount val="6"/>
              <c:pt idx="0">
                <c:v>25</c:v>
              </c:pt>
              <c:pt idx="1">
                <c:v>31</c:v>
              </c:pt>
              <c:pt idx="2">
                <c:v>36</c:v>
              </c:pt>
              <c:pt idx="3">
                <c:v>11</c:v>
              </c:pt>
              <c:pt idx="4">
                <c:v>46</c:v>
              </c:pt>
              <c:pt idx="5">
                <c:v>493</c:v>
              </c:pt>
            </c:numLit>
          </c:xVal>
          <c:yVal>
            <c:numLit>
              <c:formatCode>General</c:formatCode>
              <c:ptCount val="6"/>
              <c:pt idx="0">
                <c:v>100</c:v>
              </c:pt>
              <c:pt idx="1">
                <c:v>72.727272727272734</c:v>
              </c:pt>
              <c:pt idx="2">
                <c:v>63.636363636363633</c:v>
              </c:pt>
              <c:pt idx="3">
                <c:v>36.363636363636367</c:v>
              </c:pt>
              <c:pt idx="4">
                <c:v>54.545454545454547</c:v>
              </c:pt>
              <c:pt idx="5">
                <c:v>9.0909090909090917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CFF4-44C6-9B0E-F570E74F90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46845616"/>
        <c:axId val="1146846096"/>
      </c:scatterChart>
      <c:valAx>
        <c:axId val="1146845616"/>
        <c:scaling>
          <c:orientation val="minMax"/>
          <c:max val="50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Raw issues reported on DVNA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6846096"/>
        <c:crosses val="autoZero"/>
        <c:crossBetween val="midCat"/>
        <c:majorUnit val="100"/>
      </c:valAx>
      <c:valAx>
        <c:axId val="1146846096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Recall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6845616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Cases per alert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985E-464D-A1B0-881A5749C771}"/>
              </c:ext>
            </c:extLst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85E-464D-A1B0-881A5749C771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985E-464D-A1B0-881A5749C771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85E-464D-A1B0-881A5749C771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985E-464D-A1B0-881A5749C771}"/>
              </c:ext>
            </c:extLst>
          </c:dPt>
          <c:dPt>
            <c:idx val="5"/>
            <c:invertIfNegative val="0"/>
            <c:bubble3D val="0"/>
            <c:spPr>
              <a:solidFill>
                <a:srgbClr val="0EA5E9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85E-464D-A1B0-881A5749C771}"/>
              </c:ext>
            </c:extLst>
          </c:dPt>
          <c:dLbls>
            <c:dLbl>
              <c:idx val="0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985E-464D-A1B0-881A5749C771}"/>
                </c:ext>
              </c:extLst>
            </c:dLbl>
            <c:dLbl>
              <c:idx val="1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985E-464D-A1B0-881A5749C771}"/>
                </c:ext>
              </c:extLst>
            </c:dLbl>
            <c:dLbl>
              <c:idx val="2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985E-464D-A1B0-881A5749C771}"/>
                </c:ext>
              </c:extLst>
            </c:dLbl>
            <c:dLbl>
              <c:idx val="3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985E-464D-A1B0-881A5749C771}"/>
                </c:ext>
              </c:extLst>
            </c:dLbl>
            <c:dLbl>
              <c:idx val="4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985E-464D-A1B0-881A5749C771}"/>
                </c:ext>
              </c:extLst>
            </c:dLbl>
            <c:dLbl>
              <c:idx val="5"/>
              <c:numFmt formatCode="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985E-464D-A1B0-881A5749C7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6"/>
              <c:pt idx="0">
                <c:v>VibeScan</c:v>
              </c:pt>
              <c:pt idx="1">
                <c:v>Semgrep</c:v>
              </c:pt>
              <c:pt idx="2">
                <c:v>Bearer</c:v>
              </c:pt>
              <c:pt idx="3">
                <c:v>Snyk Code</c:v>
              </c:pt>
              <c:pt idx="4">
                <c:v>CodeQL</c:v>
              </c:pt>
              <c:pt idx="5">
                <c:v>eslint-plugin-security</c:v>
              </c:pt>
            </c:strLit>
          </c:cat>
          <c:val>
            <c:numLit>
              <c:formatCode>General</c:formatCode>
              <c:ptCount val="6"/>
              <c:pt idx="0">
                <c:v>0.44</c:v>
              </c:pt>
              <c:pt idx="1">
                <c:v>0.36363636363636365</c:v>
              </c:pt>
              <c:pt idx="2">
                <c:v>0.25806451612903225</c:v>
              </c:pt>
              <c:pt idx="3">
                <c:v>0.19444444444444445</c:v>
              </c:pt>
              <c:pt idx="4">
                <c:v>0.13043478260869565</c:v>
              </c:pt>
              <c:pt idx="5">
                <c:v>2.0283975659229209E-3</c:v>
              </c:pt>
            </c:numLit>
          </c:val>
          <c:extLst>
            <c:ext xmlns:c16="http://schemas.microsoft.com/office/drawing/2014/chart" uri="{C3380CC4-5D6E-409C-BE32-E72D297353CC}">
              <c16:uniqueId val="{00000003-985E-464D-A1B0-881A5749C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6866736"/>
        <c:axId val="1146863856"/>
      </c:barChart>
      <c:catAx>
        <c:axId val="114686673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Cases / alert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6863856"/>
        <c:crosses val="autoZero"/>
        <c:auto val="1"/>
        <c:lblAlgn val="ctr"/>
        <c:lblOffset val="100"/>
        <c:noMultiLvlLbl val="0"/>
      </c:catAx>
      <c:valAx>
        <c:axId val="1146863856"/>
        <c:scaling>
          <c:orientation val="maxMin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6866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VibeScan</c:v>
          </c:tx>
          <c:spPr>
            <a:solidFill>
              <a:srgbClr val="16A34A"/>
            </a:solidFill>
            <a:ln>
              <a:solidFill>
                <a:srgbClr val="16A34A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</c:numLit>
          </c:val>
          <c:extLst>
            <c:ext xmlns:c16="http://schemas.microsoft.com/office/drawing/2014/chart" uri="{C3380CC4-5D6E-409C-BE32-E72D297353CC}">
              <c16:uniqueId val="{00000003-1E38-425A-BFDD-DC6E43CEE2E9}"/>
            </c:ext>
          </c:extLst>
        </c:ser>
        <c:ser>
          <c:idx val="1"/>
          <c:order val="1"/>
          <c:tx>
            <c:v>Bearer</c:v>
          </c:tx>
          <c:spPr>
            <a:solidFill>
              <a:srgbClr val="2563EB"/>
            </a:solidFill>
            <a:ln>
              <a:solidFill>
                <a:srgbClr val="2563EB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100</c:v>
              </c:pt>
              <c:pt idx="2">
                <c:v>0</c:v>
              </c:pt>
              <c:pt idx="3">
                <c:v>100</c:v>
              </c:pt>
              <c:pt idx="4">
                <c:v>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4-1E38-425A-BFDD-DC6E43CEE2E9}"/>
            </c:ext>
          </c:extLst>
        </c:ser>
        <c:ser>
          <c:idx val="2"/>
          <c:order val="2"/>
          <c:tx>
            <c:v>Snyk Code</c:v>
          </c:tx>
          <c:spPr>
            <a:solidFill>
              <a:srgbClr val="F59E0B"/>
            </a:solidFill>
            <a:ln>
              <a:solidFill>
                <a:srgbClr val="F59E0B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40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0</c:v>
              </c:pt>
              <c:pt idx="5">
                <c:v>100</c:v>
              </c:pt>
            </c:numLit>
          </c:val>
          <c:extLst>
            <c:ext xmlns:c16="http://schemas.microsoft.com/office/drawing/2014/chart" uri="{C3380CC4-5D6E-409C-BE32-E72D297353CC}">
              <c16:uniqueId val="{00000005-1E38-425A-BFDD-DC6E43CEE2E9}"/>
            </c:ext>
          </c:extLst>
        </c:ser>
        <c:ser>
          <c:idx val="3"/>
          <c:order val="3"/>
          <c:tx>
            <c:v>Semgrep</c:v>
          </c:tx>
          <c:spPr>
            <a:solidFill>
              <a:srgbClr val="8B5CF6"/>
            </a:solidFill>
            <a:ln>
              <a:solidFill>
                <a:srgbClr val="8B5CF6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20</c:v>
              </c:pt>
              <c:pt idx="1">
                <c:v>100</c:v>
              </c:pt>
              <c:pt idx="2">
                <c:v>100</c:v>
              </c:pt>
              <c:pt idx="3">
                <c:v>50</c:v>
              </c:pt>
              <c:pt idx="4">
                <c:v>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6-1E38-425A-BFDD-DC6E43CEE2E9}"/>
            </c:ext>
          </c:extLst>
        </c:ser>
        <c:ser>
          <c:idx val="4"/>
          <c:order val="4"/>
          <c:tx>
            <c:v>CodeQL</c:v>
          </c:tx>
          <c:spPr>
            <a:solidFill>
              <a:srgbClr val="EF4444"/>
            </a:solidFill>
            <a:ln>
              <a:solidFill>
                <a:srgbClr val="EF4444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40</c:v>
              </c:pt>
              <c:pt idx="1">
                <c:v>100</c:v>
              </c:pt>
              <c:pt idx="2">
                <c:v>100</c:v>
              </c:pt>
              <c:pt idx="3">
                <c:v>50</c:v>
              </c:pt>
              <c:pt idx="4">
                <c:v>100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7-1E38-425A-BFDD-DC6E43CEE2E9}"/>
            </c:ext>
          </c:extLst>
        </c:ser>
        <c:ser>
          <c:idx val="5"/>
          <c:order val="5"/>
          <c:tx>
            <c:v>eslint-plugin-security</c:v>
          </c:tx>
          <c:spPr>
            <a:solidFill>
              <a:srgbClr val="0EA5E9"/>
            </a:solidFill>
            <a:ln>
              <a:solidFill>
                <a:srgbClr val="0EA5E9"/>
              </a:solidFill>
            </a:ln>
            <a:effectLst/>
          </c:spPr>
          <c:invertIfNegative val="0"/>
          <c:cat>
            <c:strLit>
              <c:ptCount val="6"/>
              <c:pt idx="0">
                <c:v>Injection</c:v>
              </c:pt>
              <c:pt idx="1">
                <c:v>Redirect and Navigation</c:v>
              </c:pt>
              <c:pt idx="2">
                <c:v>Integrity</c:v>
              </c:pt>
              <c:pt idx="3">
                <c:v>Secrets and Crypto</c:v>
              </c:pt>
              <c:pt idx="4">
                <c:v>Auth and Access Control</c:v>
              </c:pt>
              <c:pt idx="5">
                <c:v>XSS and Client-Side Output</c:v>
              </c:pt>
            </c:strLit>
          </c:cat>
          <c:val>
            <c:numLit>
              <c:formatCode>General</c:formatCode>
              <c:ptCount val="6"/>
              <c:pt idx="0">
                <c:v>20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8-1E38-425A-BFDD-DC6E43CEE2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6877776"/>
        <c:axId val="1146867216"/>
      </c:barChart>
      <c:catAx>
        <c:axId val="1146877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6867216"/>
        <c:crosses val="autoZero"/>
        <c:auto val="1"/>
        <c:lblAlgn val="ctr"/>
        <c:lblOffset val="100"/>
        <c:noMultiLvlLbl val="0"/>
      </c:catAx>
      <c:valAx>
        <c:axId val="1146867216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Recall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6877776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VibeScan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4E70-41AE-8C38-E7B2D0232D00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E70-41AE-8C38-E7B2D0232D00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4E70-41AE-8C38-E7B2D0232D00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E70-41AE-8C38-E7B2D0232D00}"/>
              </c:ext>
            </c:extLst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4E70-41AE-8C38-E7B2D0232D00}"/>
              </c:ext>
            </c:extLst>
          </c:dPt>
          <c:dPt>
            <c:idx val="5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E70-41AE-8C38-E7B2D0232D00}"/>
              </c:ext>
            </c:extLst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4E70-41AE-8C38-E7B2D0232D00}"/>
              </c:ext>
            </c:extLst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E70-41AE-8C38-E7B2D0232D00}"/>
              </c:ext>
            </c:extLst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4E70-41AE-8C38-E7B2D0232D00}"/>
              </c:ext>
            </c:extLst>
          </c:dPt>
          <c:dPt>
            <c:idx val="9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4E70-41AE-8C38-E7B2D0232D00}"/>
              </c:ext>
            </c:extLst>
          </c:dPt>
          <c:dPt>
            <c:idx val="10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E-4E70-41AE-8C38-E7B2D0232D00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3-4E70-41AE-8C38-E7B2D0232D00}"/>
            </c:ext>
          </c:extLst>
        </c:ser>
        <c:ser>
          <c:idx val="1"/>
          <c:order val="1"/>
          <c:tx>
            <c:v>Bearer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0-4E70-41AE-8C38-E7B2D0232D00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4E70-41AE-8C38-E7B2D0232D00}"/>
              </c:ext>
            </c:extLst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2-4E70-41AE-8C38-E7B2D0232D00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4E70-41AE-8C38-E7B2D0232D00}"/>
              </c:ext>
            </c:extLst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4-4E70-41AE-8C38-E7B2D0232D00}"/>
              </c:ext>
            </c:extLst>
          </c:dPt>
          <c:dPt>
            <c:idx val="5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5-4E70-41AE-8C38-E7B2D0232D00}"/>
              </c:ext>
            </c:extLst>
          </c:dPt>
          <c:dPt>
            <c:idx val="6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6-4E70-41AE-8C38-E7B2D0232D00}"/>
              </c:ext>
            </c:extLst>
          </c:dPt>
          <c:dPt>
            <c:idx val="7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7-4E70-41AE-8C38-E7B2D0232D00}"/>
              </c:ext>
            </c:extLst>
          </c:dPt>
          <c:dPt>
            <c:idx val="8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8-4E70-41AE-8C38-E7B2D0232D00}"/>
              </c:ext>
            </c:extLst>
          </c:dPt>
          <c:dPt>
            <c:idx val="9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9-4E70-41AE-8C38-E7B2D0232D00}"/>
              </c:ext>
            </c:extLst>
          </c:dPt>
          <c:dPt>
            <c:idx val="10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A-4E70-41AE-8C38-E7B2D0232D00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F-4E70-41AE-8C38-E7B2D0232D00}"/>
            </c:ext>
          </c:extLst>
        </c:ser>
        <c:ser>
          <c:idx val="2"/>
          <c:order val="2"/>
          <c:tx>
            <c:v>Snyk Code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C-4E70-41AE-8C38-E7B2D0232D00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D-4E70-41AE-8C38-E7B2D0232D00}"/>
              </c:ext>
            </c:extLst>
          </c:dPt>
          <c:dPt>
            <c:idx val="2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E-4E70-41AE-8C38-E7B2D0232D00}"/>
              </c:ext>
            </c:extLst>
          </c:dPt>
          <c:dPt>
            <c:idx val="3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F-4E70-41AE-8C38-E7B2D0232D00}"/>
              </c:ext>
            </c:extLst>
          </c:dPt>
          <c:dPt>
            <c:idx val="4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0-4E70-41AE-8C38-E7B2D0232D00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1-4E70-41AE-8C38-E7B2D0232D00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2-4E70-41AE-8C38-E7B2D0232D00}"/>
              </c:ext>
            </c:extLst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3-4E70-41AE-8C38-E7B2D0232D00}"/>
              </c:ext>
            </c:extLst>
          </c:dPt>
          <c:dPt>
            <c:idx val="8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4-4E70-41AE-8C38-E7B2D0232D00}"/>
              </c:ext>
            </c:extLst>
          </c:dPt>
          <c:dPt>
            <c:idx val="9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5-4E70-41AE-8C38-E7B2D0232D00}"/>
              </c:ext>
            </c:extLst>
          </c:dPt>
          <c:dPt>
            <c:idx val="10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6-4E70-41AE-8C38-E7B2D0232D00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1B-4E70-41AE-8C38-E7B2D0232D00}"/>
            </c:ext>
          </c:extLst>
        </c:ser>
        <c:ser>
          <c:idx val="3"/>
          <c:order val="3"/>
          <c:tx>
            <c:v>Semgrep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8-4E70-41AE-8C38-E7B2D0232D00}"/>
              </c:ext>
            </c:extLst>
          </c:dPt>
          <c:dPt>
            <c:idx val="1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9-4E70-41AE-8C38-E7B2D0232D00}"/>
              </c:ext>
            </c:extLst>
          </c:dPt>
          <c:dPt>
            <c:idx val="2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A-4E70-41AE-8C38-E7B2D0232D00}"/>
              </c:ext>
            </c:extLst>
          </c:dPt>
          <c:dPt>
            <c:idx val="3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B-4E70-41AE-8C38-E7B2D0232D00}"/>
              </c:ext>
            </c:extLst>
          </c:dPt>
          <c:dPt>
            <c:idx val="4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C-4E70-41AE-8C38-E7B2D0232D00}"/>
              </c:ext>
            </c:extLst>
          </c:dPt>
          <c:dPt>
            <c:idx val="5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D-4E70-41AE-8C38-E7B2D0232D00}"/>
              </c:ext>
            </c:extLst>
          </c:dPt>
          <c:dPt>
            <c:idx val="6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E-4E70-41AE-8C38-E7B2D0232D00}"/>
              </c:ext>
            </c:extLst>
          </c:dPt>
          <c:dPt>
            <c:idx val="7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2F-4E70-41AE-8C38-E7B2D0232D00}"/>
              </c:ext>
            </c:extLst>
          </c:dPt>
          <c:dPt>
            <c:idx val="8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0-4E70-41AE-8C38-E7B2D0232D00}"/>
              </c:ext>
            </c:extLst>
          </c:dPt>
          <c:dPt>
            <c:idx val="9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1-4E70-41AE-8C38-E7B2D0232D00}"/>
              </c:ext>
            </c:extLst>
          </c:dPt>
          <c:dPt>
            <c:idx val="10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2-4E70-41AE-8C38-E7B2D0232D00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27-4E70-41AE-8C38-E7B2D0232D00}"/>
            </c:ext>
          </c:extLst>
        </c:ser>
        <c:ser>
          <c:idx val="4"/>
          <c:order val="4"/>
          <c:tx>
            <c:v>CodeQL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4-4E70-41AE-8C38-E7B2D0232D00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5-4E70-41AE-8C38-E7B2D0232D00}"/>
              </c:ext>
            </c:extLst>
          </c:dPt>
          <c:dPt>
            <c:idx val="2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6-4E70-41AE-8C38-E7B2D0232D00}"/>
              </c:ext>
            </c:extLst>
          </c:dPt>
          <c:dPt>
            <c:idx val="3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7-4E70-41AE-8C38-E7B2D0232D00}"/>
              </c:ext>
            </c:extLst>
          </c:dPt>
          <c:dPt>
            <c:idx val="4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8-4E70-41AE-8C38-E7B2D0232D00}"/>
              </c:ext>
            </c:extLst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9-4E70-41AE-8C38-E7B2D0232D00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A-4E70-41AE-8C38-E7B2D0232D00}"/>
              </c:ext>
            </c:extLst>
          </c:dPt>
          <c:dPt>
            <c:idx val="7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B-4E70-41AE-8C38-E7B2D0232D00}"/>
              </c:ext>
            </c:extLst>
          </c:dPt>
          <c:dPt>
            <c:idx val="8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C-4E70-41AE-8C38-E7B2D0232D00}"/>
              </c:ext>
            </c:extLst>
          </c:dPt>
          <c:dPt>
            <c:idx val="9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D-4E70-41AE-8C38-E7B2D0232D00}"/>
              </c:ext>
            </c:extLst>
          </c:dPt>
          <c:dPt>
            <c:idx val="10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3E-4E70-41AE-8C38-E7B2D0232D00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33-4E70-41AE-8C38-E7B2D0232D00}"/>
            </c:ext>
          </c:extLst>
        </c:ser>
        <c:ser>
          <c:idx val="5"/>
          <c:order val="5"/>
          <c:tx>
            <c:v>eslint-plugin-security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A5E9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0-4E70-41AE-8C38-E7B2D0232D00}"/>
              </c:ext>
            </c:extLst>
          </c:dPt>
          <c:dPt>
            <c:idx val="1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1-4E70-41AE-8C38-E7B2D0232D00}"/>
              </c:ext>
            </c:extLst>
          </c:dPt>
          <c:dPt>
            <c:idx val="2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2-4E70-41AE-8C38-E7B2D0232D00}"/>
              </c:ext>
            </c:extLst>
          </c:dPt>
          <c:dPt>
            <c:idx val="3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3-4E70-41AE-8C38-E7B2D0232D00}"/>
              </c:ext>
            </c:extLst>
          </c:dPt>
          <c:dPt>
            <c:idx val="4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4-4E70-41AE-8C38-E7B2D0232D00}"/>
              </c:ext>
            </c:extLst>
          </c:dPt>
          <c:dPt>
            <c:idx val="5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5-4E70-41AE-8C38-E7B2D0232D00}"/>
              </c:ext>
            </c:extLst>
          </c:dPt>
          <c:dPt>
            <c:idx val="6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6-4E70-41AE-8C38-E7B2D0232D00}"/>
              </c:ext>
            </c:extLst>
          </c:dPt>
          <c:dPt>
            <c:idx val="7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7-4E70-41AE-8C38-E7B2D0232D00}"/>
              </c:ext>
            </c:extLst>
          </c:dPt>
          <c:dPt>
            <c:idx val="8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8-4E70-41AE-8C38-E7B2D0232D00}"/>
              </c:ext>
            </c:extLst>
          </c:dPt>
          <c:dPt>
            <c:idx val="9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9-4E70-41AE-8C38-E7B2D0232D00}"/>
              </c:ext>
            </c:extLst>
          </c:dPt>
          <c:dPt>
            <c:idx val="10"/>
            <c:invertIfNegative val="0"/>
            <c:bubble3D val="0"/>
            <c:spPr>
              <a:solidFill>
                <a:srgbClr val="E2E8F0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4A-4E70-41AE-8C38-E7B2D0232D00}"/>
              </c:ext>
            </c:extLst>
          </c:dPt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3F-4E70-41AE-8C38-E7B2D0232D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-27"/>
        <c:axId val="1303931632"/>
        <c:axId val="1303937392"/>
      </c:barChart>
      <c:catAx>
        <c:axId val="1303931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937392"/>
        <c:crosses val="autoZero"/>
        <c:auto val="1"/>
        <c:lblAlgn val="ctr"/>
        <c:lblOffset val="100"/>
        <c:noMultiLvlLbl val="0"/>
      </c:catAx>
      <c:valAx>
        <c:axId val="1303937392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93163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Difficulty (hits across tools)</c:v>
          </c:tx>
          <c:spPr>
            <a:solidFill>
              <a:srgbClr val="60A5F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1"/>
              <c:pt idx="0">
                <c:v>SQL Injection</c:v>
              </c:pt>
              <c:pt idx="1">
                <c:v>Command Injection</c:v>
              </c:pt>
              <c:pt idx="2">
                <c:v>NoSQL (route)</c:v>
              </c:pt>
              <c:pt idx="3">
                <c:v>NoSQL (auth)</c:v>
              </c:pt>
              <c:pt idx="4">
                <c:v>NoSQL (session)</c:v>
              </c:pt>
              <c:pt idx="5">
                <c:v>Open Redirect</c:v>
              </c:pt>
              <c:pt idx="6">
                <c:v>Unsafe Deser</c:v>
              </c:pt>
              <c:pt idx="7">
                <c:v>Hardcoded Secret</c:v>
              </c:pt>
              <c:pt idx="8">
                <c:v>Weak Hash</c:v>
              </c:pt>
              <c:pt idx="9">
                <c:v>Env Fallback</c:v>
              </c:pt>
              <c:pt idx="10">
                <c:v>DOM XSS</c:v>
              </c:pt>
            </c:strLit>
          </c:cat>
          <c:val>
            <c:numLit>
              <c:formatCode>General</c:formatCode>
              <c:ptCount val="11"/>
              <c:pt idx="0">
                <c:v>6</c:v>
              </c:pt>
              <c:pt idx="1">
                <c:v>4</c:v>
              </c:pt>
              <c:pt idx="2">
                <c:v>2</c:v>
              </c:pt>
              <c:pt idx="3">
                <c:v>2</c:v>
              </c:pt>
              <c:pt idx="4">
                <c:v>2</c:v>
              </c:pt>
              <c:pt idx="5">
                <c:v>5</c:v>
              </c:pt>
              <c:pt idx="6">
                <c:v>4</c:v>
              </c:pt>
              <c:pt idx="7">
                <c:v>5</c:v>
              </c:pt>
              <c:pt idx="8">
                <c:v>3</c:v>
              </c:pt>
              <c:pt idx="9">
                <c:v>2</c:v>
              </c:pt>
              <c:pt idx="10">
                <c:v>2</c:v>
              </c:pt>
            </c:numLit>
          </c:val>
          <c:extLst>
            <c:ext xmlns:c16="http://schemas.microsoft.com/office/drawing/2014/chart" uri="{C3380CC4-5D6E-409C-BE32-E72D297353CC}">
              <c16:uniqueId val="{00000003-D320-4929-A6C5-A8B220D92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4012752"/>
        <c:axId val="1304013232"/>
      </c:barChart>
      <c:catAx>
        <c:axId val="130401275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Hits / 6 tools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4013232"/>
        <c:crosses val="autoZero"/>
        <c:auto val="1"/>
        <c:lblAlgn val="ctr"/>
        <c:lblOffset val="100"/>
        <c:noMultiLvlLbl val="0"/>
      </c:catAx>
      <c:valAx>
        <c:axId val="1304013232"/>
        <c:scaling>
          <c:orientation val="maxMin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4012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Total hits (of 11)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ln>
                <a:solidFill>
                  <a:srgbClr val="16A34A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3C62-41EE-A056-B20CF61B0248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ln>
                <a:solidFill>
                  <a:srgbClr val="2563E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C62-41EE-A056-B20CF61B0248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ln>
                <a:solidFill>
                  <a:srgbClr val="F59E0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3C62-41EE-A056-B20CF61B0248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ln>
                <a:solidFill>
                  <a:srgbClr val="8B5CF6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C62-41EE-A056-B20CF61B0248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ln>
                <a:solidFill>
                  <a:srgbClr val="EF444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3C62-41EE-A056-B20CF61B0248}"/>
              </c:ext>
            </c:extLst>
          </c:dPt>
          <c:dPt>
            <c:idx val="5"/>
            <c:invertIfNegative val="0"/>
            <c:bubble3D val="0"/>
            <c:spPr>
              <a:solidFill>
                <a:srgbClr val="0EA5E9"/>
              </a:solidFill>
              <a:ln>
                <a:solidFill>
                  <a:srgbClr val="0EA5E9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C62-41EE-A056-B20CF61B024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6"/>
              <c:pt idx="0">
                <c:v>VibeScan</c:v>
              </c:pt>
              <c:pt idx="1">
                <c:v>Bearer</c:v>
              </c:pt>
              <c:pt idx="2">
                <c:v>Snyk Code</c:v>
              </c:pt>
              <c:pt idx="3">
                <c:v>Semgrep</c:v>
              </c:pt>
              <c:pt idx="4">
                <c:v>CodeQL</c:v>
              </c:pt>
              <c:pt idx="5">
                <c:v>eslint-plugin-security</c:v>
              </c:pt>
            </c:strLit>
          </c:cat>
          <c:val>
            <c:numLit>
              <c:formatCode>General</c:formatCode>
              <c:ptCount val="6"/>
              <c:pt idx="0">
                <c:v>11</c:v>
              </c:pt>
              <c:pt idx="1">
                <c:v>8</c:v>
              </c:pt>
              <c:pt idx="2">
                <c:v>7</c:v>
              </c:pt>
              <c:pt idx="3">
                <c:v>4</c:v>
              </c:pt>
              <c:pt idx="4">
                <c:v>6</c:v>
              </c:pt>
              <c:pt idx="5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3-3C62-41EE-A056-B20CF61B02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3908592"/>
        <c:axId val="1303913392"/>
      </c:barChart>
      <c:catAx>
        <c:axId val="1303908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913392"/>
        <c:crosses val="autoZero"/>
        <c:auto val="1"/>
        <c:lblAlgn val="ctr"/>
        <c:lblOffset val="100"/>
        <c:noMultiLvlLbl val="0"/>
      </c:catAx>
      <c:valAx>
        <c:axId val="1303913392"/>
        <c:scaling>
          <c:orientation val="minMax"/>
          <c:max val="1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908592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Tools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11"/>
              <c:spPr>
                <a:solidFill>
                  <a:srgbClr val="16A34A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74E3-4CC1-97AD-2BB93C4ABD90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2563E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74E3-4CC1-97AD-2BB93C4ABD90}"/>
              </c:ext>
            </c:extLst>
          </c:dPt>
          <c:dPt>
            <c:idx val="2"/>
            <c:marker>
              <c:symbol val="circle"/>
              <c:size val="8"/>
              <c:spPr>
                <a:solidFill>
                  <a:srgbClr val="F59E0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74E3-4CC1-97AD-2BB93C4ABD90}"/>
              </c:ext>
            </c:extLst>
          </c:dPt>
          <c:dPt>
            <c:idx val="3"/>
            <c:marker>
              <c:symbol val="circle"/>
              <c:size val="8"/>
              <c:spPr>
                <a:solidFill>
                  <a:srgbClr val="8B5CF6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74E3-4CC1-97AD-2BB93C4ABD90}"/>
              </c:ext>
            </c:extLst>
          </c:dPt>
          <c:dPt>
            <c:idx val="4"/>
            <c:marker>
              <c:symbol val="circle"/>
              <c:size val="8"/>
              <c:spPr>
                <a:solidFill>
                  <a:srgbClr val="EF4444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74E3-4CC1-97AD-2BB93C4ABD90}"/>
              </c:ext>
            </c:extLst>
          </c:dPt>
          <c:dPt>
            <c:idx val="5"/>
            <c:marker>
              <c:symbol val="circle"/>
              <c:size val="8"/>
              <c:spPr>
                <a:solidFill>
                  <a:srgbClr val="0EA5E9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74E3-4CC1-97AD-2BB93C4ABD9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VibeScan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4E3-4CC1-97AD-2BB93C4ABD9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Bearer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4E3-4CC1-97AD-2BB93C4ABD9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Snyk 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4E3-4CC1-97AD-2BB93C4ABD9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Semgrep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4E3-4CC1-97AD-2BB93C4ABD9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CodeQL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4E3-4CC1-97AD-2BB93C4ABD9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eslint-plugin-security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4E3-4CC1-97AD-2BB93C4ABD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Lit>
              <c:formatCode>General</c:formatCode>
              <c:ptCount val="6"/>
              <c:pt idx="0">
                <c:v>0.44</c:v>
              </c:pt>
              <c:pt idx="1">
                <c:v>0.25806451612903225</c:v>
              </c:pt>
              <c:pt idx="2">
                <c:v>0.19444444444444445</c:v>
              </c:pt>
              <c:pt idx="3">
                <c:v>0.36363636363636365</c:v>
              </c:pt>
              <c:pt idx="4">
                <c:v>0.13043478260869565</c:v>
              </c:pt>
              <c:pt idx="5">
                <c:v>2.0283975659229209E-3</c:v>
              </c:pt>
            </c:numLit>
          </c:xVal>
          <c:yVal>
            <c:numLit>
              <c:formatCode>General</c:formatCode>
              <c:ptCount val="6"/>
              <c:pt idx="0">
                <c:v>100</c:v>
              </c:pt>
              <c:pt idx="1">
                <c:v>72.727272727272734</c:v>
              </c:pt>
              <c:pt idx="2">
                <c:v>63.636363636363633</c:v>
              </c:pt>
              <c:pt idx="3">
                <c:v>36.363636363636367</c:v>
              </c:pt>
              <c:pt idx="4">
                <c:v>54.545454545454547</c:v>
              </c:pt>
              <c:pt idx="5">
                <c:v>9.0909090909090917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74E3-4CC1-97AD-2BB93C4AB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4007472"/>
        <c:axId val="1304008432"/>
      </c:scatterChart>
      <c:valAx>
        <c:axId val="1304007472"/>
        <c:scaling>
          <c:orientation val="minMax"/>
          <c:max val="0.45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Precision proxy (cases detected / raw alerts)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4008432"/>
        <c:crosses val="autoZero"/>
        <c:crossBetween val="midCat"/>
        <c:majorUnit val="0.1"/>
      </c:valAx>
      <c:valAx>
        <c:axId val="130400843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Recall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4007472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v>Tools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11"/>
              <c:spPr>
                <a:solidFill>
                  <a:srgbClr val="16A34A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302A-4858-8C02-9EFE59E601CB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2563E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2A-4858-8C02-9EFE59E601CB}"/>
              </c:ext>
            </c:extLst>
          </c:dPt>
          <c:dPt>
            <c:idx val="2"/>
            <c:marker>
              <c:symbol val="circle"/>
              <c:size val="8"/>
              <c:spPr>
                <a:solidFill>
                  <a:srgbClr val="F59E0B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302A-4858-8C02-9EFE59E601CB}"/>
              </c:ext>
            </c:extLst>
          </c:dPt>
          <c:dPt>
            <c:idx val="3"/>
            <c:marker>
              <c:symbol val="circle"/>
              <c:size val="8"/>
              <c:spPr>
                <a:solidFill>
                  <a:srgbClr val="8B5CF6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2A-4858-8C02-9EFE59E601CB}"/>
              </c:ext>
            </c:extLst>
          </c:dPt>
          <c:dPt>
            <c:idx val="4"/>
            <c:marker>
              <c:symbol val="circle"/>
              <c:size val="8"/>
              <c:spPr>
                <a:solidFill>
                  <a:srgbClr val="EF4444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302A-4858-8C02-9EFE59E601CB}"/>
              </c:ext>
            </c:extLst>
          </c:dPt>
          <c:dPt>
            <c:idx val="5"/>
            <c:marker>
              <c:symbol val="circle"/>
              <c:size val="8"/>
              <c:spPr>
                <a:solidFill>
                  <a:srgbClr val="0EA5E9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302A-4858-8C02-9EFE59E601C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VibeScan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02A-4858-8C02-9EFE59E601C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Bearer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02A-4858-8C02-9EFE59E601C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Snyk Code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02A-4858-8C02-9EFE59E601C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Semgrep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02A-4858-8C02-9EFE59E601C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CodeQL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02A-4858-8C02-9EFE59E601C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eslint-plugin-security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02A-4858-8C02-9EFE59E601C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Lit>
              <c:formatCode>General</c:formatCode>
              <c:ptCount val="6"/>
              <c:pt idx="0">
                <c:v>0.80547000000000002</c:v>
              </c:pt>
              <c:pt idx="1">
                <c:v>10.848700000000001</c:v>
              </c:pt>
              <c:pt idx="2">
                <c:v>9.5982599999999998</c:v>
              </c:pt>
              <c:pt idx="3">
                <c:v>15.24014</c:v>
              </c:pt>
              <c:pt idx="4">
                <c:v>91.81644</c:v>
              </c:pt>
              <c:pt idx="5">
                <c:v>1.7045699999999999</c:v>
              </c:pt>
            </c:numLit>
          </c:xVal>
          <c:yVal>
            <c:numLit>
              <c:formatCode>General</c:formatCode>
              <c:ptCount val="6"/>
              <c:pt idx="0">
                <c:v>100</c:v>
              </c:pt>
              <c:pt idx="1">
                <c:v>72.727272727272734</c:v>
              </c:pt>
              <c:pt idx="2">
                <c:v>63.636363636363633</c:v>
              </c:pt>
              <c:pt idx="3">
                <c:v>36.363636363636367</c:v>
              </c:pt>
              <c:pt idx="4">
                <c:v>54.545454545454547</c:v>
              </c:pt>
              <c:pt idx="5">
                <c:v>9.0909090909090917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302A-4858-8C02-9EFE59E601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3946032"/>
        <c:axId val="1303946992"/>
      </c:scatterChart>
      <c:valAx>
        <c:axId val="1303946032"/>
        <c:scaling>
          <c:logBase val="10"/>
          <c:orientation val="minMax"/>
          <c:max val="100"/>
          <c:min val="0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Runtime (seconds, log scale)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946992"/>
        <c:crosses val="autoZero"/>
        <c:crossBetween val="midCat"/>
      </c:valAx>
      <c:valAx>
        <c:axId val="130394699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DVNA recall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3946032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B4820-6AEE-77FA-5D6C-26F71E85B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CC0C8-342F-3C20-B705-9E0DD2590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99262-3CF5-2C66-2B44-488F640EA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86A51-05FE-3E51-7EC1-30EFAB163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5D176-173A-6011-0F7C-13ABB343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81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890A-FFFE-6454-B9EA-80C02B2A7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4A538-1F27-334F-14FB-570AF822F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63FA9-AEB7-EA99-F9A0-FF6B9EB3D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0B498-B9A9-9992-8A30-BFB9A91DE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1154A-8E2C-7C0C-2C3A-845E077E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98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081E-0F38-F76E-B939-7ECBAABB6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558C1-C34F-80B7-2A22-97F209B36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63CDC-FB9E-9A4D-6599-761DCB65A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6DABF-E9DE-FC98-A8D5-F23973EDF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2FAF7-212A-79BA-D7D3-F359FE18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7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9EF2-9B86-9722-945B-884F94F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430E8-C02C-56E4-0380-B77A8C54E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A1A7D-AB96-1F7D-3767-1041953C4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EF9F9-D91C-A1B6-699E-F50AE4FE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F1716-E15A-C499-1F44-A730A5CCE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DB256-4A28-D920-78E0-C3702D5C8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09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FFB1-AC53-C9A9-79F1-90F5D386D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26BAA-BAB7-FD5A-1C4A-07C784DD7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9CE3C-EE70-2565-F932-51544105E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00419-CABE-771A-3720-C1B33E0154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F4F6BB-BA16-C818-B7C4-5B57CEF0B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78E1AC-4244-36E6-0E19-4CCA639C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5A22D1-F340-D463-7EB3-EC97209EB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5E11E5-BCE1-462A-41C6-8C46CA7B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62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3535-AA70-922E-44BE-27684C874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5AB206-D9F6-E5F4-70D1-CA8CD4536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8ADF40-95FB-2C32-97B5-3C9E9D887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7E52E-C6A0-D873-750E-67D23912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74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7FF872-8512-0EAA-11AD-28794BCB6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EAC59-DF62-9A90-A915-826CE5E0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D732B-E218-6489-C658-4683ABD7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05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0CF7-00CC-8CC7-9C95-ABE518B6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14079-1B54-3F01-3B9E-ACE95B1D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B84E9-A32F-F6E1-C605-3476C9DCB4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C1612-BA41-8BAA-0300-ADD2A58A3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02921-620E-FF58-B404-17F0E0B4D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637E7F-BB45-D796-B534-1CFDEC276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45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5B227-5A03-C6B4-379E-ECAEDCC6B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11A8CF-9A7E-1689-A933-07E72931F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727AF-10CE-0097-2F3A-1A75C8A477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BE8BA-D714-1FC7-2D40-ACB1CE706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29A10-E195-FD72-60F7-3664EE797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45D0D-5BDA-9AF4-2CA0-5BD3B56C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71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51EB-BED1-6601-03CD-D2B1E8BC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D22A8-1C80-8ED3-6724-B79AE5DF5F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64385-1737-69A9-0A78-C9868615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BE608-34DC-E3E9-0F3E-91EC280FA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83B8D-C0A5-7E3A-C788-1A2C6F48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82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E3F845-9692-0049-B611-0743F1636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33AC9-5013-3FF0-9DE2-A3AA186D9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8B671-57D5-2169-29AF-EC630DCA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A79FC-550C-ABEB-4872-E9623834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799A0-D678-F34C-41D3-DF8499043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F9ACF0-95B1-AF01-B835-9B034893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3A67E-AB05-B1D8-AF41-0D2940853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76D91-1606-9116-E7D3-96C4267CA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12AAC-E671-40F6-A53F-649EFB76746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13B9D-F580-9669-F0A6-068167A1D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7C7C7-565C-A099-87F7-F7B6640F9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10EA-1627-4BA9-B826-4A7E2E201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42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68B9E-E38E-AB1E-4808-A4F6E5FA0DA5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1 - Analysis Depth Comparison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1197817-D380-EA53-A85B-29DD258CDA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4174703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9ED476A-2A72-95BA-F67F-B79E7F8B421B}"/>
              </a:ext>
            </a:extLst>
          </p:cNvPr>
          <p:cNvSpPr txBox="1"/>
          <p:nvPr/>
        </p:nvSpPr>
        <p:spPr>
          <a:xfrm>
            <a:off x="203200" y="6197600"/>
            <a:ext cx="11785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Arial" panose="020B0604020202020204" pitchFamily="34" charset="0"/>
              </a:rPr>
              <a:t>This chart compares how far each tool reaches in the analysis pipeline. VibeScan is the only tool reaching stage 5, which includes proof generation and CI gating.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0A3EB-4AD9-1677-3F3E-ECB8BD9AD004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Stage map: 1 Pattern matching, 2 Taint/data flow, 3 Cross-file, 4 Route/API reasoning, 5 Proof generation + CI gates.</a:t>
            </a:r>
          </a:p>
        </p:txBody>
      </p:sp>
    </p:spTree>
    <p:extLst>
      <p:ext uri="{BB962C8B-B14F-4D97-AF65-F5344CB8AC3E}">
        <p14:creationId xmlns:p14="http://schemas.microsoft.com/office/powerpoint/2010/main" val="316990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00E61C-57A3-F9F4-ADE8-C0F90BE9F5CC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2 - Recall vs Raw Alert Volume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36FE8FA-652E-5729-21A8-2F6DD00F36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360094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709C18-5633-308E-28BE-09CF2CD29526}"/>
              </a:ext>
            </a:extLst>
          </p:cNvPr>
          <p:cNvSpPr txBox="1"/>
          <p:nvPr/>
        </p:nvSpPr>
        <p:spPr>
          <a:xfrm>
            <a:off x="9398000" y="3048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latin typeface="Arial" panose="020B0604020202020204" pitchFamily="34" charset="0"/>
              </a:rPr>
              <a:t>Pearson r=-0.73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7C7489-E15C-28B0-79BD-463B3296F658}"/>
              </a:ext>
            </a:extLst>
          </p:cNvPr>
          <p:cNvSpPr txBox="1"/>
          <p:nvPr/>
        </p:nvSpPr>
        <p:spPr>
          <a:xfrm>
            <a:off x="203200" y="6197600"/>
            <a:ext cx="11785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Arial" panose="020B0604020202020204" pitchFamily="34" charset="0"/>
              </a:rPr>
              <a:t>This scatter plot compares DVNA recall against raw alert volume. It shows that generating more alerts does not necessarily produce higher recall.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2D25E-398A-7380-B9AC-098BC3A24423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Recreated from results/dvna-detection-matrix.json (dvnaRunIssueCount + recall).</a:t>
            </a:r>
          </a:p>
        </p:txBody>
      </p:sp>
    </p:spTree>
    <p:extLst>
      <p:ext uri="{BB962C8B-B14F-4D97-AF65-F5344CB8AC3E}">
        <p14:creationId xmlns:p14="http://schemas.microsoft.com/office/powerpoint/2010/main" val="40735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715EFD-3F3E-E12F-767C-2563E6FD5F2E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6 - Signal-to-Noise (Cases/Alert)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BADEFF9-3DC8-D135-B638-4E99AC0788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1304213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11E99C7-204E-FCAB-630C-C5AA99D3C2A9}"/>
              </a:ext>
            </a:extLst>
          </p:cNvPr>
          <p:cNvSpPr txBox="1"/>
          <p:nvPr/>
        </p:nvSpPr>
        <p:spPr>
          <a:xfrm>
            <a:off x="203200" y="6197600"/>
            <a:ext cx="11785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Arial" panose="020B0604020202020204" pitchFamily="34" charset="0"/>
              </a:rPr>
              <a:t>This bar chart shows signal-to-noise as cases detected per alert. Higher values indicate stronger benchmark value per finding, with VibeScan highest in this run.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F89B1-4EA7-74A6-FFA3-DE634994BFC1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Precision proxy = cases detected / raw alerts (higher is better).</a:t>
            </a:r>
          </a:p>
        </p:txBody>
      </p:sp>
    </p:spTree>
    <p:extLst>
      <p:ext uri="{BB962C8B-B14F-4D97-AF65-F5344CB8AC3E}">
        <p14:creationId xmlns:p14="http://schemas.microsoft.com/office/powerpoint/2010/main" val="18634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662B62-FDEA-F245-3DC5-3BDD2E3B3940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7 - Per-Family Recall by Tool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A6FC319-F224-C36F-7FED-E85372903E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7390536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EE14AB0-CD2A-69A4-01A1-70F74B63A4A7}"/>
              </a:ext>
            </a:extLst>
          </p:cNvPr>
          <p:cNvSpPr txBox="1"/>
          <p:nvPr/>
        </p:nvSpPr>
        <p:spPr>
          <a:xfrm>
            <a:off x="203200" y="6197600"/>
            <a:ext cx="11785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Arial" panose="020B0604020202020204" pitchFamily="34" charset="0"/>
              </a:rPr>
              <a:t>This grouped chart breaks recall into security families to show where tools diverge. It highlights category-level strengths and coverage gaps that are hidden in overall recall alone.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12C15-D304-AC4F-0F41-7DA385012239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Family groups sourced from results/dvna-case-catalog.json.</a:t>
            </a:r>
          </a:p>
        </p:txBody>
      </p:sp>
    </p:spTree>
    <p:extLst>
      <p:ext uri="{BB962C8B-B14F-4D97-AF65-F5344CB8AC3E}">
        <p14:creationId xmlns:p14="http://schemas.microsoft.com/office/powerpoint/2010/main" val="1731583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D6CAD6-48EB-28BF-FCE3-7AF77B4DCADC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4 - Heatmap with Totals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2724F5B-16CC-9D7C-4127-6B2CFDA6A1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1100005"/>
              </p:ext>
            </p:extLst>
          </p:nvPr>
        </p:nvGraphicFramePr>
        <p:xfrm>
          <a:off x="254000" y="660400"/>
          <a:ext cx="8191500" cy="374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AE7CBCF-3A41-1CCD-7B4A-BC314EDCE436}"/>
              </a:ext>
            </a:extLst>
          </p:cNvPr>
          <p:cNvSpPr txBox="1"/>
          <p:nvPr/>
        </p:nvSpPr>
        <p:spPr>
          <a:xfrm>
            <a:off x="203200" y="6197600"/>
            <a:ext cx="11785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Arial" panose="020B0604020202020204" pitchFamily="34" charset="0"/>
              </a:rPr>
              <a:t>This heatmap shows per-case detection outcomes by tool. Colored cells indicate where each tool hits or misses specific benchmark rows, making case-level differences explicit.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12989-8E0A-984D-95AA-720A1DC35A3B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Matrix cells are editable chart points (green=hit, red=miss).</a:t>
            </a:r>
          </a:p>
        </p:txBody>
      </p:sp>
    </p:spTree>
    <p:extLst>
      <p:ext uri="{BB962C8B-B14F-4D97-AF65-F5344CB8AC3E}">
        <p14:creationId xmlns:p14="http://schemas.microsoft.com/office/powerpoint/2010/main" val="1639744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6868A9-F2F1-D7FB-E2CA-C761462BD382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4 Companion - Case Difficulty (Hits Across Tools)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9EB4248-8446-B0D4-F860-99D8C69F28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9982267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3114F24-F0B0-CFC5-3445-E11E20A0B251}"/>
              </a:ext>
            </a:extLst>
          </p:cNvPr>
          <p:cNvSpPr txBox="1"/>
          <p:nvPr/>
        </p:nvSpPr>
        <p:spPr>
          <a:xfrm>
            <a:off x="203200" y="6197600"/>
            <a:ext cx="11785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Arial" panose="020B0604020202020204" pitchFamily="34" charset="0"/>
              </a:rPr>
              <a:t>This companion chart summarizes case difficulty by counting how many tools detected each case. Lower counts represent harder cases with less consensus across tools.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5712CF-8F7C-21F1-553C-8E2F37EE73C4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Matches right-side difficulty values from the poster heatmap.</a:t>
            </a:r>
          </a:p>
        </p:txBody>
      </p:sp>
    </p:spTree>
    <p:extLst>
      <p:ext uri="{BB962C8B-B14F-4D97-AF65-F5344CB8AC3E}">
        <p14:creationId xmlns:p14="http://schemas.microsoft.com/office/powerpoint/2010/main" val="2147803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861141-A28A-6505-3F10-696C40216D67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4 Companion - Total Hits by Tool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905FE67-41A3-0E75-B142-DA7BBA1B8C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9035114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085FE5B-9BDE-F5F3-3C73-E7C87EA71FC5}"/>
              </a:ext>
            </a:extLst>
          </p:cNvPr>
          <p:cNvSpPr txBox="1"/>
          <p:nvPr/>
        </p:nvSpPr>
        <p:spPr>
          <a:xfrm>
            <a:off x="203200" y="6197600"/>
            <a:ext cx="11785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Arial" panose="020B0604020202020204" pitchFamily="34" charset="0"/>
              </a:rPr>
              <a:t>This companion chart totals detected cases per tool out of the 11 DVNA rows. It provides a direct side-by-side view of overall benchmark coverage.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FB273D-1BFD-F0EF-1D5B-0A696E3DC528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Matches bottom-row total-hit summary from the poster heatmap.</a:t>
            </a:r>
          </a:p>
        </p:txBody>
      </p:sp>
    </p:spTree>
    <p:extLst>
      <p:ext uri="{BB962C8B-B14F-4D97-AF65-F5344CB8AC3E}">
        <p14:creationId xmlns:p14="http://schemas.microsoft.com/office/powerpoint/2010/main" val="132540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DF2DC-CC22-1C47-C59B-97FB0A1C56B0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8 - Recall vs Precision Proxy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AC14132-9DFC-971C-B528-CF3C401713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3546550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5544186-D457-41B4-2D95-B9BB4367F669}"/>
              </a:ext>
            </a:extLst>
          </p:cNvPr>
          <p:cNvSpPr txBox="1"/>
          <p:nvPr/>
        </p:nvSpPr>
        <p:spPr>
          <a:xfrm>
            <a:off x="203200" y="6197600"/>
            <a:ext cx="11785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Arial" panose="020B0604020202020204" pitchFamily="34" charset="0"/>
              </a:rPr>
              <a:t>This scatter plot compares recall with the precision proxy. It helps visualize the tradeoff between coverage and alert quality for each tool.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56EA5-B67C-6D7C-3C06-75F1A39165A2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Precision proxy is not formal false-positive-adjudicated precision.</a:t>
            </a:r>
          </a:p>
        </p:txBody>
      </p:sp>
    </p:spTree>
    <p:extLst>
      <p:ext uri="{BB962C8B-B14F-4D97-AF65-F5344CB8AC3E}">
        <p14:creationId xmlns:p14="http://schemas.microsoft.com/office/powerpoint/2010/main" val="818839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456421-EBA8-D56C-D0EA-52EE4C1C0268}"/>
              </a:ext>
            </a:extLst>
          </p:cNvPr>
          <p:cNvSpPr txBox="1"/>
          <p:nvPr/>
        </p:nvSpPr>
        <p:spPr>
          <a:xfrm>
            <a:off x="203200" y="101600"/>
            <a:ext cx="117856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rial" panose="020B0604020202020204" pitchFamily="34" charset="0"/>
              </a:rPr>
              <a:t>Figure 9 - Recall vs Scan Time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4D3D245-C2FA-BF6E-83F2-DBA9F07F6B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7425393"/>
              </p:ext>
            </p:extLst>
          </p:nvPr>
        </p:nvGraphicFramePr>
        <p:xfrm>
          <a:off x="381000" y="660400"/>
          <a:ext cx="114300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FBE926-8616-3F7A-3069-0F15CD7EFB64}"/>
              </a:ext>
            </a:extLst>
          </p:cNvPr>
          <p:cNvSpPr txBox="1"/>
          <p:nvPr/>
        </p:nvSpPr>
        <p:spPr>
          <a:xfrm>
            <a:off x="203200" y="6197600"/>
            <a:ext cx="117856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1E293B"/>
                </a:solidFill>
                <a:latin typeface="Arial" panose="020B0604020202020204" pitchFamily="34" charset="0"/>
              </a:rPr>
              <a:t>This chart compares recall against runtime on a log-scale x-axis. It shows relative operational cost while preserving visibility from sub-second scans to long-running analyses.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C7BBFE-764B-C67A-86A0-61963CAC8068}"/>
              </a:ext>
            </a:extLst>
          </p:cNvPr>
          <p:cNvSpPr txBox="1"/>
          <p:nvPr/>
        </p:nvSpPr>
        <p:spPr>
          <a:xfrm>
            <a:off x="203200" y="6527800"/>
            <a:ext cx="117856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75569"/>
                </a:solidFill>
                <a:latin typeface="Arial" panose="020B0604020202020204" pitchFamily="34" charset="0"/>
              </a:rPr>
              <a:t>Runtimes from results/dvna-tool-timings.json (wall-clock rerun values).</a:t>
            </a:r>
          </a:p>
        </p:txBody>
      </p:sp>
    </p:spTree>
    <p:extLst>
      <p:ext uri="{BB962C8B-B14F-4D97-AF65-F5344CB8AC3E}">
        <p14:creationId xmlns:p14="http://schemas.microsoft.com/office/powerpoint/2010/main" val="2797748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Obersteadt (Sting Account)</dc:creator>
  <cp:lastModifiedBy>Josh Obersteadt (Sting Account)</cp:lastModifiedBy>
  <cp:revision>1</cp:revision>
  <dcterms:created xsi:type="dcterms:W3CDTF">2026-04-08T01:15:00Z</dcterms:created>
  <dcterms:modified xsi:type="dcterms:W3CDTF">2026-04-08T01:15:00Z</dcterms:modified>
</cp:coreProperties>
</file>