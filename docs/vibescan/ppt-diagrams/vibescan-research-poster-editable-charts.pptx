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1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Depth stage reached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8E4F-44E7-987F-5FD07495DD1F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E4F-44E7-987F-5FD07495DD1F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8E4F-44E7-987F-5FD07495DD1F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E4F-44E7-987F-5FD07495DD1F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E4F-44E7-987F-5FD07495DD1F}"/>
              </c:ext>
            </c:extLst>
          </c:dPt>
          <c:dPt>
            <c:idx val="5"/>
            <c:invertIfNegative val="0"/>
            <c:bubble3D val="0"/>
            <c:spPr>
              <a:solidFill>
                <a:srgbClr val="0EA5E9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E4F-44E7-987F-5FD07495DD1F}"/>
              </c:ext>
            </c:extLst>
          </c:dPt>
          <c:dLbls>
            <c:dLbl>
              <c:idx val="0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8E4F-44E7-987F-5FD07495DD1F}"/>
                </c:ext>
              </c:extLst>
            </c:dLbl>
            <c:dLbl>
              <c:idx val="1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E4F-44E7-987F-5FD07495DD1F}"/>
                </c:ext>
              </c:extLst>
            </c:dLbl>
            <c:dLbl>
              <c:idx val="2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8E4F-44E7-987F-5FD07495DD1F}"/>
                </c:ext>
              </c:extLst>
            </c:dLbl>
            <c:dLbl>
              <c:idx val="3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E4F-44E7-987F-5FD07495DD1F}"/>
                </c:ext>
              </c:extLst>
            </c:dLbl>
            <c:dLbl>
              <c:idx val="4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8E4F-44E7-987F-5FD07495DD1F}"/>
                </c:ext>
              </c:extLst>
            </c:dLbl>
            <c:dLbl>
              <c:idx val="5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8E4F-44E7-987F-5FD07495DD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6"/>
              <c:pt idx="0">
                <c:v>VibeScan</c:v>
              </c:pt>
              <c:pt idx="1">
                <c:v>Bearer</c:v>
              </c:pt>
              <c:pt idx="2">
                <c:v>Snyk Code</c:v>
              </c:pt>
              <c:pt idx="3">
                <c:v>CodeQL</c:v>
              </c:pt>
              <c:pt idx="4">
                <c:v>Semgrep</c:v>
              </c:pt>
              <c:pt idx="5">
                <c:v>eslint-plugin-security</c:v>
              </c:pt>
            </c:str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3</c:v>
              </c:pt>
              <c:pt idx="2">
                <c:v>3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3-8E4F-44E7-987F-5FD07495DD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4520223"/>
        <c:axId val="1814520703"/>
      </c:barChart>
      <c:catAx>
        <c:axId val="181452022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Analysis depth stage (1-5)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4520703"/>
        <c:crosses val="autoZero"/>
        <c:auto val="1"/>
        <c:lblAlgn val="ctr"/>
        <c:lblOffset val="100"/>
        <c:noMultiLvlLbl val="0"/>
      </c:catAx>
      <c:valAx>
        <c:axId val="1814520703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4520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Tools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11"/>
              <c:spPr>
                <a:solidFill>
                  <a:srgbClr val="16A34A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87-4F10-ADF9-714062C181CF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2563E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7587-4F10-ADF9-714062C181CF}"/>
              </c:ext>
            </c:extLst>
          </c:dPt>
          <c:dPt>
            <c:idx val="2"/>
            <c:marker>
              <c:symbol val="circle"/>
              <c:size val="8"/>
              <c:spPr>
                <a:solidFill>
                  <a:srgbClr val="F59E0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587-4F10-ADF9-714062C181CF}"/>
              </c:ext>
            </c:extLst>
          </c:dPt>
          <c:dPt>
            <c:idx val="3"/>
            <c:marker>
              <c:symbol val="circle"/>
              <c:size val="8"/>
              <c:spPr>
                <a:solidFill>
                  <a:srgbClr val="8B5CF6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7587-4F10-ADF9-714062C181CF}"/>
              </c:ext>
            </c:extLst>
          </c:dPt>
          <c:dPt>
            <c:idx val="4"/>
            <c:marker>
              <c:symbol val="circle"/>
              <c:size val="8"/>
              <c:spPr>
                <a:solidFill>
                  <a:srgbClr val="EF4444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587-4F10-ADF9-714062C181CF}"/>
              </c:ext>
            </c:extLst>
          </c:dPt>
          <c:dPt>
            <c:idx val="5"/>
            <c:marker>
              <c:symbol val="circle"/>
              <c:size val="8"/>
              <c:spPr>
                <a:solidFill>
                  <a:srgbClr val="0EA5E9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8-7587-4F10-ADF9-714062C181C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VibeScan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587-4F10-ADF9-714062C181C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Bearer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587-4F10-ADF9-714062C181C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Snyk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587-4F10-ADF9-714062C181C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Semgrep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587-4F10-ADF9-714062C181C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CodeQL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587-4F10-ADF9-714062C181C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eslint-plugin-security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587-4F10-ADF9-714062C181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EF4444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Lit>
              <c:formatCode>General</c:formatCode>
              <c:ptCount val="6"/>
              <c:pt idx="0">
                <c:v>25</c:v>
              </c:pt>
              <c:pt idx="1">
                <c:v>31</c:v>
              </c:pt>
              <c:pt idx="2">
                <c:v>36</c:v>
              </c:pt>
              <c:pt idx="3">
                <c:v>11</c:v>
              </c:pt>
              <c:pt idx="4">
                <c:v>46</c:v>
              </c:pt>
              <c:pt idx="5">
                <c:v>493</c:v>
              </c:pt>
            </c:numLit>
          </c:xVal>
          <c:yVal>
            <c:numLit>
              <c:formatCode>General</c:formatCode>
              <c:ptCount val="6"/>
              <c:pt idx="0">
                <c:v>100</c:v>
              </c:pt>
              <c:pt idx="1">
                <c:v>72.727272727272734</c:v>
              </c:pt>
              <c:pt idx="2">
                <c:v>63.636363636363633</c:v>
              </c:pt>
              <c:pt idx="3">
                <c:v>36.363636363636367</c:v>
              </c:pt>
              <c:pt idx="4">
                <c:v>54.545454545454547</c:v>
              </c:pt>
              <c:pt idx="5">
                <c:v>9.0909090909090917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587-4F10-ADF9-714062C181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490287"/>
        <c:axId val="1088490767"/>
      </c:scatterChart>
      <c:valAx>
        <c:axId val="1088490287"/>
        <c:scaling>
          <c:orientation val="minMax"/>
          <c:max val="5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Raw issues reported on DVNA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8490767"/>
        <c:crosses val="autoZero"/>
        <c:crossBetween val="midCat"/>
        <c:majorUnit val="100"/>
      </c:valAx>
      <c:valAx>
        <c:axId val="1088490767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Recall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8490287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Cases per alert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6B9A-4A11-8AC1-E9253176130E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B9A-4A11-8AC1-E9253176130E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6B9A-4A11-8AC1-E9253176130E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B9A-4A11-8AC1-E9253176130E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6B9A-4A11-8AC1-E9253176130E}"/>
              </c:ext>
            </c:extLst>
          </c:dPt>
          <c:dPt>
            <c:idx val="5"/>
            <c:invertIfNegative val="0"/>
            <c:bubble3D val="0"/>
            <c:spPr>
              <a:solidFill>
                <a:srgbClr val="0EA5E9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B9A-4A11-8AC1-E9253176130E}"/>
              </c:ext>
            </c:extLst>
          </c:dPt>
          <c:dLbls>
            <c:dLbl>
              <c:idx val="0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6B9A-4A11-8AC1-E9253176130E}"/>
                </c:ext>
              </c:extLst>
            </c:dLbl>
            <c:dLbl>
              <c:idx val="1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6B9A-4A11-8AC1-E9253176130E}"/>
                </c:ext>
              </c:extLst>
            </c:dLbl>
            <c:dLbl>
              <c:idx val="2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6B9A-4A11-8AC1-E9253176130E}"/>
                </c:ext>
              </c:extLst>
            </c:dLbl>
            <c:dLbl>
              <c:idx val="3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6B9A-4A11-8AC1-E9253176130E}"/>
                </c:ext>
              </c:extLst>
            </c:dLbl>
            <c:dLbl>
              <c:idx val="4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6B9A-4A11-8AC1-E9253176130E}"/>
                </c:ext>
              </c:extLst>
            </c:dLbl>
            <c:dLbl>
              <c:idx val="5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6B9A-4A11-8AC1-E925317613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6"/>
              <c:pt idx="0">
                <c:v>VibeScan</c:v>
              </c:pt>
              <c:pt idx="1">
                <c:v>Semgrep</c:v>
              </c:pt>
              <c:pt idx="2">
                <c:v>Bearer</c:v>
              </c:pt>
              <c:pt idx="3">
                <c:v>Snyk Code</c:v>
              </c:pt>
              <c:pt idx="4">
                <c:v>CodeQL</c:v>
              </c:pt>
              <c:pt idx="5">
                <c:v>eslint-plugin-security</c:v>
              </c:pt>
            </c:strLit>
          </c:cat>
          <c:val>
            <c:numLit>
              <c:formatCode>General</c:formatCode>
              <c:ptCount val="6"/>
              <c:pt idx="0">
                <c:v>0.44</c:v>
              </c:pt>
              <c:pt idx="1">
                <c:v>0.36363636363636365</c:v>
              </c:pt>
              <c:pt idx="2">
                <c:v>0.25806451612903225</c:v>
              </c:pt>
              <c:pt idx="3">
                <c:v>0.19444444444444445</c:v>
              </c:pt>
              <c:pt idx="4">
                <c:v>0.13043478260869565</c:v>
              </c:pt>
              <c:pt idx="5">
                <c:v>2.0283975659229209E-3</c:v>
              </c:pt>
            </c:numLit>
          </c:val>
          <c:extLst>
            <c:ext xmlns:c16="http://schemas.microsoft.com/office/drawing/2014/chart" uri="{C3380CC4-5D6E-409C-BE32-E72D297353CC}">
              <c16:uniqueId val="{00000003-6B9A-4A11-8AC1-E92531761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8466287"/>
        <c:axId val="1088459567"/>
      </c:barChart>
      <c:catAx>
        <c:axId val="108846628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Cases / alert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8459567"/>
        <c:crosses val="autoZero"/>
        <c:auto val="1"/>
        <c:lblAlgn val="ctr"/>
        <c:lblOffset val="100"/>
        <c:noMultiLvlLbl val="0"/>
      </c:catAx>
      <c:valAx>
        <c:axId val="1088459567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8466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VibeScan</c:v>
          </c:tx>
          <c:spPr>
            <a:solidFill>
              <a:srgbClr val="16A34A"/>
            </a:solidFill>
            <a:ln>
              <a:solidFill>
                <a:srgbClr val="16A34A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03-C7B4-40F6-8175-0DDF8FB8C87F}"/>
            </c:ext>
          </c:extLst>
        </c:ser>
        <c:ser>
          <c:idx val="1"/>
          <c:order val="1"/>
          <c:tx>
            <c:v>Bearer</c:v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</c:v>
              </c:pt>
              <c:pt idx="2">
                <c:v>0</c:v>
              </c:pt>
              <c:pt idx="3">
                <c:v>100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4-C7B4-40F6-8175-0DDF8FB8C87F}"/>
            </c:ext>
          </c:extLst>
        </c:ser>
        <c:ser>
          <c:idx val="2"/>
          <c:order val="2"/>
          <c:tx>
            <c:v>Snyk Code</c:v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40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0</c:v>
              </c:pt>
              <c:pt idx="5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05-C7B4-40F6-8175-0DDF8FB8C87F}"/>
            </c:ext>
          </c:extLst>
        </c:ser>
        <c:ser>
          <c:idx val="3"/>
          <c:order val="3"/>
          <c:tx>
            <c:v>Semgrep</c:v>
          </c:tx>
          <c:spPr>
            <a:solidFill>
              <a:srgbClr val="8B5CF6"/>
            </a:solidFill>
            <a:ln>
              <a:solidFill>
                <a:srgbClr val="8B5CF6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20</c:v>
              </c:pt>
              <c:pt idx="1">
                <c:v>100</c:v>
              </c:pt>
              <c:pt idx="2">
                <c:v>100</c:v>
              </c:pt>
              <c:pt idx="3">
                <c:v>50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6-C7B4-40F6-8175-0DDF8FB8C87F}"/>
            </c:ext>
          </c:extLst>
        </c:ser>
        <c:ser>
          <c:idx val="4"/>
          <c:order val="4"/>
          <c:tx>
            <c:v>CodeQL</c:v>
          </c:tx>
          <c:spPr>
            <a:solidFill>
              <a:srgbClr val="EF4444"/>
            </a:solidFill>
            <a:ln>
              <a:solidFill>
                <a:srgbClr val="EF4444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40</c:v>
              </c:pt>
              <c:pt idx="1">
                <c:v>100</c:v>
              </c:pt>
              <c:pt idx="2">
                <c:v>100</c:v>
              </c:pt>
              <c:pt idx="3">
                <c:v>50</c:v>
              </c:pt>
              <c:pt idx="4">
                <c:v>100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7-C7B4-40F6-8175-0DDF8FB8C87F}"/>
            </c:ext>
          </c:extLst>
        </c:ser>
        <c:ser>
          <c:idx val="5"/>
          <c:order val="5"/>
          <c:tx>
            <c:v>eslint-plugin-security</c:v>
          </c:tx>
          <c:spPr>
            <a:solidFill>
              <a:srgbClr val="0EA5E9"/>
            </a:solidFill>
            <a:ln>
              <a:solidFill>
                <a:srgbClr val="0EA5E9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20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8-C7B4-40F6-8175-0DDF8FB8C8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8469647"/>
        <c:axId val="1088476367"/>
      </c:barChart>
      <c:catAx>
        <c:axId val="1088469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8476367"/>
        <c:crosses val="autoZero"/>
        <c:auto val="1"/>
        <c:lblAlgn val="ctr"/>
        <c:lblOffset val="100"/>
        <c:noMultiLvlLbl val="0"/>
      </c:catAx>
      <c:valAx>
        <c:axId val="1088476367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Recall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8469647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VibeScan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DBBC-4013-91D9-68BECCE731CC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BBC-4013-91D9-68BECCE731CC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DBBC-4013-91D9-68BECCE731CC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BBC-4013-91D9-68BECCE731CC}"/>
              </c:ext>
            </c:extLst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DBBC-4013-91D9-68BECCE731CC}"/>
              </c:ext>
            </c:extLst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BBC-4013-91D9-68BECCE731CC}"/>
              </c:ext>
            </c:extLst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DBBC-4013-91D9-68BECCE731CC}"/>
              </c:ext>
            </c:extLst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DBBC-4013-91D9-68BECCE731CC}"/>
              </c:ext>
            </c:extLst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DBBC-4013-91D9-68BECCE731CC}"/>
              </c:ext>
            </c:extLst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DBBC-4013-91D9-68BECCE731CC}"/>
              </c:ext>
            </c:extLst>
          </c:dPt>
          <c:dPt>
            <c:idx val="1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DBBC-4013-91D9-68BECCE731CC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3-DBBC-4013-91D9-68BECCE731CC}"/>
            </c:ext>
          </c:extLst>
        </c:ser>
        <c:ser>
          <c:idx val="1"/>
          <c:order val="1"/>
          <c:tx>
            <c:v>Bearer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DBBC-4013-91D9-68BECCE731CC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DBBC-4013-91D9-68BECCE731CC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DBBC-4013-91D9-68BECCE731CC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DBBC-4013-91D9-68BECCE731CC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DBBC-4013-91D9-68BECCE731CC}"/>
              </c:ext>
            </c:extLst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DBBC-4013-91D9-68BECCE731CC}"/>
              </c:ext>
            </c:extLst>
          </c:dPt>
          <c:dPt>
            <c:idx val="6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DBBC-4013-91D9-68BECCE731CC}"/>
              </c:ext>
            </c:extLst>
          </c:dPt>
          <c:dPt>
            <c:idx val="7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DBBC-4013-91D9-68BECCE731CC}"/>
              </c:ext>
            </c:extLst>
          </c:dPt>
          <c:dPt>
            <c:idx val="8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DBBC-4013-91D9-68BECCE731CC}"/>
              </c:ext>
            </c:extLst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DBBC-4013-91D9-68BECCE731CC}"/>
              </c:ext>
            </c:extLst>
          </c:dPt>
          <c:dPt>
            <c:idx val="10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A-DBBC-4013-91D9-68BECCE731CC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F-DBBC-4013-91D9-68BECCE731CC}"/>
            </c:ext>
          </c:extLst>
        </c:ser>
        <c:ser>
          <c:idx val="2"/>
          <c:order val="2"/>
          <c:tx>
            <c:v>Snyk Code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C-DBBC-4013-91D9-68BECCE731CC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DBBC-4013-91D9-68BECCE731CC}"/>
              </c:ext>
            </c:extLst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E-DBBC-4013-91D9-68BECCE731CC}"/>
              </c:ext>
            </c:extLst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DBBC-4013-91D9-68BECCE731CC}"/>
              </c:ext>
            </c:extLst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0-DBBC-4013-91D9-68BECCE731CC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DBBC-4013-91D9-68BECCE731CC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2-DBBC-4013-91D9-68BECCE731CC}"/>
              </c:ext>
            </c:extLst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DBBC-4013-91D9-68BECCE731CC}"/>
              </c:ext>
            </c:extLst>
          </c:dPt>
          <c:dPt>
            <c:idx val="8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4-DBBC-4013-91D9-68BECCE731CC}"/>
              </c:ext>
            </c:extLst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DBBC-4013-91D9-68BECCE731CC}"/>
              </c:ext>
            </c:extLst>
          </c:dPt>
          <c:dPt>
            <c:idx val="10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6-DBBC-4013-91D9-68BECCE731CC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1B-DBBC-4013-91D9-68BECCE731CC}"/>
            </c:ext>
          </c:extLst>
        </c:ser>
        <c:ser>
          <c:idx val="3"/>
          <c:order val="3"/>
          <c:tx>
            <c:v>Semgrep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8-DBBC-4013-91D9-68BECCE731CC}"/>
              </c:ext>
            </c:extLst>
          </c:dPt>
          <c:dPt>
            <c:idx val="1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DBBC-4013-91D9-68BECCE731CC}"/>
              </c:ext>
            </c:extLst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DBBC-4013-91D9-68BECCE731CC}"/>
              </c:ext>
            </c:extLst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B-DBBC-4013-91D9-68BECCE731CC}"/>
              </c:ext>
            </c:extLst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DBBC-4013-91D9-68BECCE731CC}"/>
              </c:ext>
            </c:extLst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D-DBBC-4013-91D9-68BECCE731CC}"/>
              </c:ext>
            </c:extLst>
          </c:dPt>
          <c:dPt>
            <c:idx val="6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E-DBBC-4013-91D9-68BECCE731CC}"/>
              </c:ext>
            </c:extLst>
          </c:dPt>
          <c:dPt>
            <c:idx val="7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F-DBBC-4013-91D9-68BECCE731CC}"/>
              </c:ext>
            </c:extLst>
          </c:dPt>
          <c:dPt>
            <c:idx val="8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0-DBBC-4013-91D9-68BECCE731CC}"/>
              </c:ext>
            </c:extLst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DBBC-4013-91D9-68BECCE731CC}"/>
              </c:ext>
            </c:extLst>
          </c:dPt>
          <c:dPt>
            <c:idx val="10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2-DBBC-4013-91D9-68BECCE731CC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27-DBBC-4013-91D9-68BECCE731CC}"/>
            </c:ext>
          </c:extLst>
        </c:ser>
        <c:ser>
          <c:idx val="4"/>
          <c:order val="4"/>
          <c:tx>
            <c:v>CodeQL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4-DBBC-4013-91D9-68BECCE731CC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5-DBBC-4013-91D9-68BECCE731CC}"/>
              </c:ext>
            </c:extLst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6-DBBC-4013-91D9-68BECCE731CC}"/>
              </c:ext>
            </c:extLst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DBBC-4013-91D9-68BECCE731CC}"/>
              </c:ext>
            </c:extLst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8-DBBC-4013-91D9-68BECCE731CC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DBBC-4013-91D9-68BECCE731CC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A-DBBC-4013-91D9-68BECCE731CC}"/>
              </c:ext>
            </c:extLst>
          </c:dPt>
          <c:dPt>
            <c:idx val="7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DBBC-4013-91D9-68BECCE731CC}"/>
              </c:ext>
            </c:extLst>
          </c:dPt>
          <c:dPt>
            <c:idx val="8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C-DBBC-4013-91D9-68BECCE731CC}"/>
              </c:ext>
            </c:extLst>
          </c:dPt>
          <c:dPt>
            <c:idx val="9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DBBC-4013-91D9-68BECCE731CC}"/>
              </c:ext>
            </c:extLst>
          </c:dPt>
          <c:dPt>
            <c:idx val="10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E-DBBC-4013-91D9-68BECCE731CC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33-DBBC-4013-91D9-68BECCE731CC}"/>
            </c:ext>
          </c:extLst>
        </c:ser>
        <c:ser>
          <c:idx val="5"/>
          <c:order val="5"/>
          <c:tx>
            <c:v>eslint-plugin-security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A5E9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0-DBBC-4013-91D9-68BECCE731CC}"/>
              </c:ext>
            </c:extLst>
          </c:dPt>
          <c:dPt>
            <c:idx val="1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DBBC-4013-91D9-68BECCE731CC}"/>
              </c:ext>
            </c:extLst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2-DBBC-4013-91D9-68BECCE731CC}"/>
              </c:ext>
            </c:extLst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DBBC-4013-91D9-68BECCE731CC}"/>
              </c:ext>
            </c:extLst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4-DBBC-4013-91D9-68BECCE731CC}"/>
              </c:ext>
            </c:extLst>
          </c:dPt>
          <c:dPt>
            <c:idx val="5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DBBC-4013-91D9-68BECCE731CC}"/>
              </c:ext>
            </c:extLst>
          </c:dPt>
          <c:dPt>
            <c:idx val="6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6-DBBC-4013-91D9-68BECCE731CC}"/>
              </c:ext>
            </c:extLst>
          </c:dPt>
          <c:dPt>
            <c:idx val="7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DBBC-4013-91D9-68BECCE731CC}"/>
              </c:ext>
            </c:extLst>
          </c:dPt>
          <c:dPt>
            <c:idx val="8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8-DBBC-4013-91D9-68BECCE731CC}"/>
              </c:ext>
            </c:extLst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DBBC-4013-91D9-68BECCE731CC}"/>
              </c:ext>
            </c:extLst>
          </c:dPt>
          <c:dPt>
            <c:idx val="10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A-DBBC-4013-91D9-68BECCE731CC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3F-DBBC-4013-91D9-68BECCE73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173625087"/>
        <c:axId val="1173624127"/>
      </c:barChart>
      <c:catAx>
        <c:axId val="1173625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624127"/>
        <c:crosses val="autoZero"/>
        <c:auto val="1"/>
        <c:lblAlgn val="ctr"/>
        <c:lblOffset val="100"/>
        <c:noMultiLvlLbl val="0"/>
      </c:catAx>
      <c:valAx>
        <c:axId val="1173624127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62508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Difficulty (hits across tools)</c:v>
          </c:tx>
          <c:spPr>
            <a:solidFill>
              <a:srgbClr val="60A5F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6</c:v>
              </c:pt>
              <c:pt idx="1">
                <c:v>4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5</c:v>
              </c:pt>
              <c:pt idx="6">
                <c:v>4</c:v>
              </c:pt>
              <c:pt idx="7">
                <c:v>5</c:v>
              </c:pt>
              <c:pt idx="8">
                <c:v>3</c:v>
              </c:pt>
              <c:pt idx="9">
                <c:v>2</c:v>
              </c:pt>
              <c:pt idx="10">
                <c:v>2</c:v>
              </c:pt>
            </c:numLit>
          </c:val>
          <c:extLst>
            <c:ext xmlns:c16="http://schemas.microsoft.com/office/drawing/2014/chart" uri="{C3380CC4-5D6E-409C-BE32-E72D297353CC}">
              <c16:uniqueId val="{00000003-C721-451F-84EA-1B46E18C0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3704287"/>
        <c:axId val="1173710047"/>
      </c:barChart>
      <c:catAx>
        <c:axId val="117370428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Hits / 6 tools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710047"/>
        <c:crosses val="autoZero"/>
        <c:auto val="1"/>
        <c:lblAlgn val="ctr"/>
        <c:lblOffset val="100"/>
        <c:noMultiLvlLbl val="0"/>
      </c:catAx>
      <c:valAx>
        <c:axId val="1173710047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704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Total hits (of 11)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A215-4D95-A542-B8B87320F576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15-4D95-A542-B8B87320F576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A215-4D95-A542-B8B87320F576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15-4D95-A542-B8B87320F576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A215-4D95-A542-B8B87320F576}"/>
              </c:ext>
            </c:extLst>
          </c:dPt>
          <c:dPt>
            <c:idx val="5"/>
            <c:invertIfNegative val="0"/>
            <c:bubble3D val="0"/>
            <c:spPr>
              <a:solidFill>
                <a:srgbClr val="0EA5E9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215-4D95-A542-B8B87320F5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6"/>
              <c:pt idx="0">
                <c:v>VibeScan</c:v>
              </c:pt>
              <c:pt idx="1">
                <c:v>Bearer</c:v>
              </c:pt>
              <c:pt idx="2">
                <c:v>Snyk Code</c:v>
              </c:pt>
              <c:pt idx="3">
                <c:v>Semgrep</c:v>
              </c:pt>
              <c:pt idx="4">
                <c:v>CodeQL</c:v>
              </c:pt>
              <c:pt idx="5">
                <c:v>eslint-plugin-security</c:v>
              </c:pt>
            </c:strLit>
          </c:cat>
          <c:val>
            <c:numLit>
              <c:formatCode>General</c:formatCode>
              <c:ptCount val="6"/>
              <c:pt idx="0">
                <c:v>11</c:v>
              </c:pt>
              <c:pt idx="1">
                <c:v>8</c:v>
              </c:pt>
              <c:pt idx="2">
                <c:v>7</c:v>
              </c:pt>
              <c:pt idx="3">
                <c:v>4</c:v>
              </c:pt>
              <c:pt idx="4">
                <c:v>6</c:v>
              </c:pt>
              <c:pt idx="5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3-A215-4D95-A542-B8B87320F5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3600607"/>
        <c:axId val="1173601087"/>
      </c:barChart>
      <c:catAx>
        <c:axId val="1173600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601087"/>
        <c:crosses val="autoZero"/>
        <c:auto val="1"/>
        <c:lblAlgn val="ctr"/>
        <c:lblOffset val="100"/>
        <c:noMultiLvlLbl val="0"/>
      </c:catAx>
      <c:valAx>
        <c:axId val="1173601087"/>
        <c:scaling>
          <c:orientation val="minMax"/>
          <c:max val="1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60060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Tools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11"/>
              <c:spPr>
                <a:solidFill>
                  <a:srgbClr val="16A34A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1F41-4690-9C84-61EC9E670776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2563E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F41-4690-9C84-61EC9E670776}"/>
              </c:ext>
            </c:extLst>
          </c:dPt>
          <c:dPt>
            <c:idx val="2"/>
            <c:marker>
              <c:symbol val="circle"/>
              <c:size val="8"/>
              <c:spPr>
                <a:solidFill>
                  <a:srgbClr val="F59E0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1F41-4690-9C84-61EC9E670776}"/>
              </c:ext>
            </c:extLst>
          </c:dPt>
          <c:dPt>
            <c:idx val="3"/>
            <c:marker>
              <c:symbol val="circle"/>
              <c:size val="8"/>
              <c:spPr>
                <a:solidFill>
                  <a:srgbClr val="8B5CF6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F41-4690-9C84-61EC9E670776}"/>
              </c:ext>
            </c:extLst>
          </c:dPt>
          <c:dPt>
            <c:idx val="4"/>
            <c:marker>
              <c:symbol val="circle"/>
              <c:size val="8"/>
              <c:spPr>
                <a:solidFill>
                  <a:srgbClr val="EF4444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1F41-4690-9C84-61EC9E670776}"/>
              </c:ext>
            </c:extLst>
          </c:dPt>
          <c:dPt>
            <c:idx val="5"/>
            <c:marker>
              <c:symbol val="circle"/>
              <c:size val="8"/>
              <c:spPr>
                <a:solidFill>
                  <a:srgbClr val="0EA5E9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1F41-4690-9C84-61EC9E67077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VibeScan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F41-4690-9C84-61EC9E67077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Bearer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F41-4690-9C84-61EC9E67077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Snyk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F41-4690-9C84-61EC9E67077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Semgrep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F41-4690-9C84-61EC9E67077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CodeQL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F41-4690-9C84-61EC9E67077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eslint-plugin-security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F41-4690-9C84-61EC9E6707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Lit>
              <c:formatCode>General</c:formatCode>
              <c:ptCount val="6"/>
              <c:pt idx="0">
                <c:v>0.44</c:v>
              </c:pt>
              <c:pt idx="1">
                <c:v>0.25806451612903225</c:v>
              </c:pt>
              <c:pt idx="2">
                <c:v>0.19444444444444445</c:v>
              </c:pt>
              <c:pt idx="3">
                <c:v>0.36363636363636365</c:v>
              </c:pt>
              <c:pt idx="4">
                <c:v>0.13043478260869565</c:v>
              </c:pt>
              <c:pt idx="5">
                <c:v>2.0283975659229209E-3</c:v>
              </c:pt>
            </c:numLit>
          </c:xVal>
          <c:yVal>
            <c:numLit>
              <c:formatCode>General</c:formatCode>
              <c:ptCount val="6"/>
              <c:pt idx="0">
                <c:v>100</c:v>
              </c:pt>
              <c:pt idx="1">
                <c:v>72.727272727272734</c:v>
              </c:pt>
              <c:pt idx="2">
                <c:v>63.636363636363633</c:v>
              </c:pt>
              <c:pt idx="3">
                <c:v>36.363636363636367</c:v>
              </c:pt>
              <c:pt idx="4">
                <c:v>54.545454545454547</c:v>
              </c:pt>
              <c:pt idx="5">
                <c:v>9.0909090909090917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1F41-4690-9C84-61EC9E6707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73623167"/>
        <c:axId val="1173686047"/>
      </c:scatterChart>
      <c:valAx>
        <c:axId val="1173623167"/>
        <c:scaling>
          <c:orientation val="minMax"/>
          <c:max val="0.4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Precision proxy (cases detected / raw alerts)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686047"/>
        <c:crosses val="autoZero"/>
        <c:crossBetween val="midCat"/>
        <c:majorUnit val="0.1"/>
      </c:valAx>
      <c:valAx>
        <c:axId val="1173686047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Recall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623167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Tools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11"/>
              <c:spPr>
                <a:solidFill>
                  <a:srgbClr val="16A34A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B8E7-410F-AFE5-3E464AEC7975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2563E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8E7-410F-AFE5-3E464AEC7975}"/>
              </c:ext>
            </c:extLst>
          </c:dPt>
          <c:dPt>
            <c:idx val="2"/>
            <c:marker>
              <c:symbol val="circle"/>
              <c:size val="8"/>
              <c:spPr>
                <a:solidFill>
                  <a:srgbClr val="F59E0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B8E7-410F-AFE5-3E464AEC7975}"/>
              </c:ext>
            </c:extLst>
          </c:dPt>
          <c:dPt>
            <c:idx val="3"/>
            <c:marker>
              <c:symbol val="circle"/>
              <c:size val="8"/>
              <c:spPr>
                <a:solidFill>
                  <a:srgbClr val="8B5CF6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B8E7-410F-AFE5-3E464AEC7975}"/>
              </c:ext>
            </c:extLst>
          </c:dPt>
          <c:dPt>
            <c:idx val="4"/>
            <c:marker>
              <c:symbol val="circle"/>
              <c:size val="8"/>
              <c:spPr>
                <a:solidFill>
                  <a:srgbClr val="EF4444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B8E7-410F-AFE5-3E464AEC7975}"/>
              </c:ext>
            </c:extLst>
          </c:dPt>
          <c:dPt>
            <c:idx val="5"/>
            <c:marker>
              <c:symbol val="circle"/>
              <c:size val="8"/>
              <c:spPr>
                <a:solidFill>
                  <a:srgbClr val="0EA5E9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B8E7-410F-AFE5-3E464AEC797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VibeScan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8E7-410F-AFE5-3E464AEC797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Bearer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8E7-410F-AFE5-3E464AEC797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Snyk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8E7-410F-AFE5-3E464AEC797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Semgrep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8E7-410F-AFE5-3E464AEC797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CodeQL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8E7-410F-AFE5-3E464AEC797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eslint-plugin-security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8E7-410F-AFE5-3E464AEC79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Lit>
              <c:formatCode>General</c:formatCode>
              <c:ptCount val="6"/>
              <c:pt idx="0">
                <c:v>0.80547000000000002</c:v>
              </c:pt>
              <c:pt idx="1">
                <c:v>10.848700000000001</c:v>
              </c:pt>
              <c:pt idx="2">
                <c:v>9.5982599999999998</c:v>
              </c:pt>
              <c:pt idx="3">
                <c:v>15.24014</c:v>
              </c:pt>
              <c:pt idx="4">
                <c:v>91.81644</c:v>
              </c:pt>
              <c:pt idx="5">
                <c:v>1.7045699999999999</c:v>
              </c:pt>
            </c:numLit>
          </c:xVal>
          <c:yVal>
            <c:numLit>
              <c:formatCode>General</c:formatCode>
              <c:ptCount val="6"/>
              <c:pt idx="0">
                <c:v>100</c:v>
              </c:pt>
              <c:pt idx="1">
                <c:v>72.727272727272734</c:v>
              </c:pt>
              <c:pt idx="2">
                <c:v>63.636363636363633</c:v>
              </c:pt>
              <c:pt idx="3">
                <c:v>36.363636363636367</c:v>
              </c:pt>
              <c:pt idx="4">
                <c:v>54.545454545454547</c:v>
              </c:pt>
              <c:pt idx="5">
                <c:v>9.0909090909090917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B8E7-410F-AFE5-3E464AEC7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73648607"/>
        <c:axId val="1173649087"/>
      </c:scatterChart>
      <c:valAx>
        <c:axId val="1173648607"/>
        <c:scaling>
          <c:logBase val="10"/>
          <c:orientation val="minMax"/>
          <c:max val="100"/>
          <c:min val="0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Runtime (seconds, log scale)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649087"/>
        <c:crosses val="autoZero"/>
        <c:crossBetween val="midCat"/>
      </c:valAx>
      <c:valAx>
        <c:axId val="1173649087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DVNA recall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648607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8144-7E95-A779-EA8B-777D3E0C2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F0367-8C57-D835-851E-913680EE4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7E619-EEB9-DC66-EFCD-9414A1EFF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F5BC1-A017-4888-4C11-33FA8D6A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F3493-0251-E5A4-EAA7-89E73945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72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8FA1-EE7B-46C2-F2C5-365D154E1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2F567-7498-1E1C-063F-040FDCADF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59476-2AA2-7421-5774-5D5D162C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E1C2B-CB31-9EE2-F971-8C4AEBED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1EFCC-66F8-AB39-BBBE-7B120551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9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6466-35D4-85F3-AA0C-7933EE29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390AF-0351-1560-EC3C-CBBEBE5B1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88289-9C50-3E8F-6A69-977BB69E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8424-874F-41C2-B313-667F25CE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6556F-0E26-1192-93AA-F3C64B01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51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CDE5-A938-D417-4BA7-E0DC1087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2CCB2-7969-BFE4-B0C2-A8F33157E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47982-55E9-4A27-EDC3-B1D85263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7A4F8-52DF-491C-63E7-8ACCB655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8B1D2-C3C0-F319-53BF-68713288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45455-C515-3662-2ED8-92B715827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9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ABF2-CB07-F755-089B-85C422D1A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D828D-8973-7E80-40F7-B7AAF7E8B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5DF8B-0248-291E-188C-215166E5F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ADBCD-F801-39E4-2012-4DB6331C3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322B8-FB4E-7B9F-2184-5BA6D13B0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10DDFF-9A9F-1A3D-3FFE-EB096126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C1CE4-EB9F-DDB3-ACFD-54420CA1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C1DBC-9BBF-E6D5-4692-DACE2CE0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7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FA13B-773A-9A67-B1F5-9A25B078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63588-1551-37EB-C487-8A4C0466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781FC-2FD4-DCDC-7A82-64FF84ED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982AF-C02A-3E20-12D4-DCA0130C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4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1217F9-02FA-353C-068C-E99AFD9C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6419F-A318-F4AA-980C-03C3ABD5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0B3ED-E4AE-552E-7F0B-4820E591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4728-71BA-F6C7-03CE-FC5D4064D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C5AE6-7D80-1855-2D2C-327B801C1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F4405-5646-98A8-26F3-C3C98B210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6D85C-3D89-7FC0-170A-3B7E1F9CD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332E4-35D4-3A79-0A54-84750702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CDEC7-787E-BE71-A6D4-04E6281F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31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14F1-5613-C435-09E7-199CE9B3E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94A9E-F5B2-90B5-8582-F8109EF12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EA3E1-1FA4-51F5-8ED4-A468AC16A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7B85C-32D5-40BD-4DDC-35618A22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1A727-11FA-4FAA-585E-1078695E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DD11D-39B4-898A-B7FC-D9F41704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5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8B66-7710-0532-53B2-9E589AF4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AEFAD-7F1E-8C9D-50EA-18B5CA912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A423F-6C58-4317-0EC5-EB41A3B9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F6993-0837-940E-D4DD-9CED3FBF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05034-ECC8-AD65-6412-B3E239B6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20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169684-A712-1A64-0D1B-AED48DE60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730CF-8F0F-7D7A-ED02-9530F6506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47857-DF1A-20E2-13B2-8D397CCD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C7DB5-840F-9723-716A-CE0D82EC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BE849-6114-BBC1-F265-06AFBC36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0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EF65E-67FE-7DA0-71AD-AE07B21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FF7D4-6625-CDA6-B7CE-296E032C8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D6FA2-6AD8-1379-BE8B-7BDBBBB1C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E1E8D-8184-4287-9A01-03CD26078CB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4512C-7C5F-7A1A-A41C-EA3CEA307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845AF-FBF2-8BD9-02F7-38465BC85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ABB66-878E-47B4-9ED7-125C61C5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2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5974D5-4DC7-081F-229D-137C1A2AAEEE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1 - Analysis Depth Comparison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37DCBB9-01AC-56E0-A8D3-ED101635A7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6215211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89FE5B-D9D9-6918-6FD0-9D7F1423B499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Stage map: 1 Pattern matching, 2 Taint/data flow, 3 Cross-file, 4 Route/API reasoning, 5 Proof generation + CI gates.</a:t>
            </a:r>
          </a:p>
        </p:txBody>
      </p:sp>
    </p:spTree>
    <p:extLst>
      <p:ext uri="{BB962C8B-B14F-4D97-AF65-F5344CB8AC3E}">
        <p14:creationId xmlns:p14="http://schemas.microsoft.com/office/powerpoint/2010/main" val="313953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ABCC5-73D4-A7E0-0DED-D1D1488DB69A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2 - Recall vs Raw Alert Volume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E143A7D-968A-D145-14A5-60BB96EE17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5289218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FA46AF-A122-ACEB-EE98-A9EF3D8A1BF8}"/>
              </a:ext>
            </a:extLst>
          </p:cNvPr>
          <p:cNvSpPr txBox="1"/>
          <p:nvPr/>
        </p:nvSpPr>
        <p:spPr>
          <a:xfrm>
            <a:off x="9398000" y="3048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latin typeface="Arial" panose="020B0604020202020204" pitchFamily="34" charset="0"/>
              </a:rPr>
              <a:t>Pearson r=-0.73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9CC9D-761E-E57C-2C5C-399E00C84279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Recreated from results/dvna-detection-matrix.json (dvnaRunIssueCount + recall).</a:t>
            </a:r>
          </a:p>
        </p:txBody>
      </p:sp>
    </p:spTree>
    <p:extLst>
      <p:ext uri="{BB962C8B-B14F-4D97-AF65-F5344CB8AC3E}">
        <p14:creationId xmlns:p14="http://schemas.microsoft.com/office/powerpoint/2010/main" val="125833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F98DE0-DF06-B721-6BB5-F124E4DDF370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6 - Signal-to-Noise (Cases/Alert)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67B580B-DF5E-1A36-F392-F43C016649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2233992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D7E3AAD-00B9-8441-4771-B1F9F70A3F57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Precision proxy = cases detected / raw alerts (higher is better).</a:t>
            </a:r>
          </a:p>
        </p:txBody>
      </p:sp>
    </p:spTree>
    <p:extLst>
      <p:ext uri="{BB962C8B-B14F-4D97-AF65-F5344CB8AC3E}">
        <p14:creationId xmlns:p14="http://schemas.microsoft.com/office/powerpoint/2010/main" val="332339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7C2B66-3821-E6E3-A778-C27EA495F031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7 - Per-Family Recall by Tool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DCB3EB5-D344-6C11-BAF2-4532022399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6701120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DE35199-45E2-514C-D47F-4AAF7D6A00AA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Family groups sourced from results/dvna-case-catalog.json.</a:t>
            </a:r>
          </a:p>
        </p:txBody>
      </p:sp>
    </p:spTree>
    <p:extLst>
      <p:ext uri="{BB962C8B-B14F-4D97-AF65-F5344CB8AC3E}">
        <p14:creationId xmlns:p14="http://schemas.microsoft.com/office/powerpoint/2010/main" val="3139251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5BAB6D-4DDC-F617-CF2C-545F2B342231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4 - Heatmap with Totals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6C6D2ED-F733-DE58-23B7-2C779E1BB7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113560"/>
              </p:ext>
            </p:extLst>
          </p:nvPr>
        </p:nvGraphicFramePr>
        <p:xfrm>
          <a:off x="254000" y="660400"/>
          <a:ext cx="8191500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CD38B2-A621-1DBC-752B-0531BA162632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Matrix cells are editable chart points (green=hit, red=miss).</a:t>
            </a:r>
          </a:p>
        </p:txBody>
      </p:sp>
    </p:spTree>
    <p:extLst>
      <p:ext uri="{BB962C8B-B14F-4D97-AF65-F5344CB8AC3E}">
        <p14:creationId xmlns:p14="http://schemas.microsoft.com/office/powerpoint/2010/main" val="163809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AE137D-E234-1D9A-112E-93F55F8B0CB7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4 Companion - Case Difficulty (Hits Across Tools)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792086F-C993-A1E7-DD11-8307DEDFEF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7951113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093DDBB-EC10-6EA7-7894-C65EC1DE8FB3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Matches right-side difficulty values from the poster heatmap.</a:t>
            </a:r>
          </a:p>
        </p:txBody>
      </p:sp>
    </p:spTree>
    <p:extLst>
      <p:ext uri="{BB962C8B-B14F-4D97-AF65-F5344CB8AC3E}">
        <p14:creationId xmlns:p14="http://schemas.microsoft.com/office/powerpoint/2010/main" val="121669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969EF-B40A-F624-B616-750D94A3EFD7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4 Companion - Total Hits by Tool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185351A-F04E-A30D-E4CC-CD63234F4D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2813169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167F6E7-16CC-0EE3-4491-EE76CDE5C489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Matches bottom-row total-hit summary from the poster heatmap.</a:t>
            </a:r>
          </a:p>
        </p:txBody>
      </p:sp>
    </p:spTree>
    <p:extLst>
      <p:ext uri="{BB962C8B-B14F-4D97-AF65-F5344CB8AC3E}">
        <p14:creationId xmlns:p14="http://schemas.microsoft.com/office/powerpoint/2010/main" val="6755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C9F33-D59B-F584-81A9-CE81D4A92A5F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8 - Recall vs Precision Proxy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5F29A3E-15FC-ED80-EAE7-9F35C2B65F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3766275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82F02F-E379-A4F6-7880-EA1E8D25F3AB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Precision proxy is not formal false-positive-adjudicated precision.</a:t>
            </a:r>
          </a:p>
        </p:txBody>
      </p:sp>
    </p:spTree>
    <p:extLst>
      <p:ext uri="{BB962C8B-B14F-4D97-AF65-F5344CB8AC3E}">
        <p14:creationId xmlns:p14="http://schemas.microsoft.com/office/powerpoint/2010/main" val="27794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3147DA-FBBD-A2F2-CC12-C676C90C83EF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9 - Recall vs Scan Time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BE457C-2317-72C4-B301-EE63CA603A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2064120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4ACB95-234F-E9DC-D6E7-C2A5423148FA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Runtimes from results/dvna-tool-timings.json (wall-clock rerun values).</a:t>
            </a:r>
          </a:p>
        </p:txBody>
      </p:sp>
    </p:spTree>
    <p:extLst>
      <p:ext uri="{BB962C8B-B14F-4D97-AF65-F5344CB8AC3E}">
        <p14:creationId xmlns:p14="http://schemas.microsoft.com/office/powerpoint/2010/main" val="105519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Obersteadt (Sting Account)</dc:creator>
  <cp:lastModifiedBy>Josh Obersteadt (Sting Account)</cp:lastModifiedBy>
  <cp:revision>1</cp:revision>
  <dcterms:created xsi:type="dcterms:W3CDTF">2026-04-08T01:07:29Z</dcterms:created>
  <dcterms:modified xsi:type="dcterms:W3CDTF">2026-04-08T01:07:29Z</dcterms:modified>
</cp:coreProperties>
</file>